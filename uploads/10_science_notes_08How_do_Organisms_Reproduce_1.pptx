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93700" y="660400"/>
            <a:ext cx="6769100" cy="12700"/>
          </a:xfrm>
          <a:custGeom>
            <a:avLst/>
            <a:gdLst/>
            <a:ahLst/>
            <a:cxnLst/>
            <a:rect l="l" t="t" r="r" b="b"/>
            <a:pathLst>
              <a:path w="6769100" h="12700">
                <a:moveTo>
                  <a:pt x="6769100" y="12700"/>
                </a:moveTo>
                <a:lnTo>
                  <a:pt x="0" y="12700"/>
                </a:lnTo>
                <a:lnTo>
                  <a:pt x="0" y="0"/>
                </a:lnTo>
                <a:lnTo>
                  <a:pt x="6769100" y="0"/>
                </a:lnTo>
                <a:lnTo>
                  <a:pt x="6769100" y="127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393700" y="10033000"/>
            <a:ext cx="6769100" cy="12700"/>
          </a:xfrm>
          <a:custGeom>
            <a:avLst/>
            <a:gdLst/>
            <a:ahLst/>
            <a:cxnLst/>
            <a:rect l="l" t="t" r="r" b="b"/>
            <a:pathLst>
              <a:path w="6769100" h="12700">
                <a:moveTo>
                  <a:pt x="6769100" y="12700"/>
                </a:moveTo>
                <a:lnTo>
                  <a:pt x="0" y="12700"/>
                </a:lnTo>
                <a:lnTo>
                  <a:pt x="0" y="0"/>
                </a:lnTo>
                <a:lnTo>
                  <a:pt x="6769100" y="0"/>
                </a:lnTo>
                <a:lnTo>
                  <a:pt x="6769100" y="127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718300" y="10029415"/>
            <a:ext cx="436879" cy="173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hyperlink" Target="http://www.vidyakul.com/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hyperlink" Target="http://www.vidyakul.com/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hyperlink" Target="http://www.vidyakul.com/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1.png"/><Relationship Id="rId4" Type="http://schemas.openxmlformats.org/officeDocument/2006/relationships/hyperlink" Target="http://www.vidyakul.com/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hyperlink" Target="http://www.vidyakul.com/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hyperlink" Target="http://www.vidyakul.com/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.png"/><Relationship Id="rId4" Type="http://schemas.openxmlformats.org/officeDocument/2006/relationships/hyperlink" Target="http://www.vidyakul.com/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Relationship Id="rId3" Type="http://schemas.openxmlformats.org/officeDocument/2006/relationships/image" Target="../media/image1.png"/><Relationship Id="rId4" Type="http://schemas.openxmlformats.org/officeDocument/2006/relationships/hyperlink" Target="http://www.vidyakul.com/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.png"/><Relationship Id="rId5" Type="http://schemas.openxmlformats.org/officeDocument/2006/relationships/hyperlink" Target="http://www.vidyakul.com/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hyperlink" Target="http://www.vidyakul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93700" y="2311400"/>
            <a:ext cx="6769100" cy="12700"/>
          </a:xfrm>
          <a:custGeom>
            <a:avLst/>
            <a:gdLst/>
            <a:ahLst/>
            <a:cxnLst/>
            <a:rect l="l" t="t" r="r" b="b"/>
            <a:pathLst>
              <a:path w="6769100" h="12700">
                <a:moveTo>
                  <a:pt x="6769100" y="12700"/>
                </a:moveTo>
                <a:lnTo>
                  <a:pt x="0" y="12700"/>
                </a:lnTo>
                <a:lnTo>
                  <a:pt x="0" y="0"/>
                </a:lnTo>
                <a:lnTo>
                  <a:pt x="6769100" y="0"/>
                </a:lnTo>
                <a:lnTo>
                  <a:pt x="6769100" y="127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93700" y="5829300"/>
          <a:ext cx="6845300" cy="177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0"/>
                <a:gridCol w="3187700"/>
              </a:tblGrid>
              <a:tr h="355600">
                <a:tc gridSpan="2">
                  <a:txBody>
                    <a:bodyPr/>
                    <a:lstStyle/>
                    <a:p>
                      <a:pPr algn="ctr" marL="24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200" spc="55" b="1">
                          <a:latin typeface="Cambria"/>
                          <a:cs typeface="Cambria"/>
                        </a:rPr>
                        <a:t>REPRODUCTION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2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dirty="0" sz="1200" spc="65">
                          <a:latin typeface="Cambria"/>
                          <a:cs typeface="Cambria"/>
                        </a:rPr>
                        <a:t>Asexual</a:t>
                      </a:r>
                      <a:r>
                        <a:rPr dirty="0" sz="12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45">
                          <a:latin typeface="Cambria"/>
                          <a:cs typeface="Cambria"/>
                        </a:rPr>
                        <a:t>Reproduction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236854" indent="-167005">
                        <a:lnSpc>
                          <a:spcPct val="100000"/>
                        </a:lnSpc>
                        <a:spcBef>
                          <a:spcPts val="660"/>
                        </a:spcBef>
                        <a:buAutoNum type="arabicPeriod"/>
                        <a:tabLst>
                          <a:tab pos="236854" algn="l"/>
                        </a:tabLst>
                      </a:pPr>
                      <a:r>
                        <a:rPr dirty="0" sz="1200" spc="90">
                          <a:latin typeface="Cambria"/>
                          <a:cs typeface="Cambria"/>
                        </a:rPr>
                        <a:t>A</a:t>
                      </a:r>
                      <a:r>
                        <a:rPr dirty="0" sz="1200" spc="1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single</a:t>
                      </a:r>
                      <a:r>
                        <a:rPr dirty="0" sz="1200" spc="1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parent</a:t>
                      </a:r>
                      <a:r>
                        <a:rPr dirty="0" sz="1200" spc="1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is</a:t>
                      </a:r>
                      <a:r>
                        <a:rPr dirty="0" sz="1200" spc="1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involved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236854" indent="-167005">
                        <a:lnSpc>
                          <a:spcPct val="100000"/>
                        </a:lnSpc>
                        <a:spcBef>
                          <a:spcPts val="660"/>
                        </a:spcBef>
                        <a:buAutoNum type="arabicPeriod"/>
                        <a:tabLst>
                          <a:tab pos="236854" algn="l"/>
                        </a:tabLst>
                      </a:pPr>
                      <a:r>
                        <a:rPr dirty="0" sz="1200" spc="65">
                          <a:latin typeface="Cambria"/>
                          <a:cs typeface="Cambria"/>
                        </a:rPr>
                        <a:t>Gametes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 not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formed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196850" indent="-128270">
                        <a:lnSpc>
                          <a:spcPct val="100000"/>
                        </a:lnSpc>
                        <a:spcBef>
                          <a:spcPts val="660"/>
                        </a:spcBef>
                        <a:buAutoNum type="arabicPeriod"/>
                        <a:tabLst>
                          <a:tab pos="196850" algn="l"/>
                        </a:tabLst>
                      </a:pPr>
                      <a:r>
                        <a:rPr dirty="0" sz="1200" spc="55">
                          <a:latin typeface="Cambria"/>
                          <a:cs typeface="Cambria"/>
                        </a:rPr>
                        <a:t>Progeny</a:t>
                      </a:r>
                      <a:r>
                        <a:rPr dirty="0" sz="12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is</a:t>
                      </a:r>
                      <a:r>
                        <a:rPr dirty="0" sz="12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Identical</a:t>
                      </a:r>
                      <a:r>
                        <a:rPr dirty="0" sz="1200" spc="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to</a:t>
                      </a:r>
                      <a:r>
                        <a:rPr dirty="0" sz="12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parent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200" spc="70">
                          <a:latin typeface="Cambria"/>
                          <a:cs typeface="Cambria"/>
                        </a:rPr>
                        <a:t>Sexual</a:t>
                      </a:r>
                      <a:r>
                        <a:rPr dirty="0" sz="1200" spc="45">
                          <a:latin typeface="Cambria"/>
                          <a:cs typeface="Cambria"/>
                        </a:rPr>
                        <a:t> Reproduction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236854" indent="-167005">
                        <a:lnSpc>
                          <a:spcPct val="100000"/>
                        </a:lnSpc>
                        <a:spcBef>
                          <a:spcPts val="660"/>
                        </a:spcBef>
                        <a:buAutoNum type="arabicPeriod"/>
                        <a:tabLst>
                          <a:tab pos="236854" algn="l"/>
                        </a:tabLst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Both</a:t>
                      </a:r>
                      <a:r>
                        <a:rPr dirty="0" sz="1200" spc="1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45">
                          <a:latin typeface="Cambria"/>
                          <a:cs typeface="Cambria"/>
                        </a:rPr>
                        <a:t>Parents</a:t>
                      </a:r>
                      <a:r>
                        <a:rPr dirty="0" sz="1200" spc="1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involved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236854" indent="-167005">
                        <a:lnSpc>
                          <a:spcPct val="100000"/>
                        </a:lnSpc>
                        <a:spcBef>
                          <a:spcPts val="660"/>
                        </a:spcBef>
                        <a:buAutoNum type="arabicPeriod"/>
                        <a:tabLst>
                          <a:tab pos="236854" algn="l"/>
                        </a:tabLst>
                      </a:pPr>
                      <a:r>
                        <a:rPr dirty="0" sz="1200" spc="65">
                          <a:latin typeface="Cambria"/>
                          <a:cs typeface="Cambria"/>
                        </a:rPr>
                        <a:t>Gametes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are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formed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69850" marR="266065" indent="167005">
                        <a:lnSpc>
                          <a:spcPct val="145800"/>
                        </a:lnSpc>
                        <a:buAutoNum type="arabicPeriod"/>
                        <a:tabLst>
                          <a:tab pos="236854" algn="l"/>
                        </a:tabLst>
                      </a:pPr>
                      <a:r>
                        <a:rPr dirty="0" sz="1200" spc="55">
                          <a:latin typeface="Cambria"/>
                          <a:cs typeface="Cambria"/>
                        </a:rPr>
                        <a:t>Progeny</a:t>
                      </a:r>
                      <a:r>
                        <a:rPr dirty="0" sz="12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is</a:t>
                      </a:r>
                      <a:r>
                        <a:rPr dirty="0" sz="12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only</a:t>
                      </a:r>
                      <a:r>
                        <a:rPr dirty="0" sz="12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genetically</a:t>
                      </a:r>
                      <a:r>
                        <a:rPr dirty="0" sz="12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similar</a:t>
                      </a:r>
                      <a:r>
                        <a:rPr dirty="0" sz="12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to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the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parent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but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not </a:t>
                      </a:r>
                      <a:r>
                        <a:rPr dirty="0" sz="1200" spc="40">
                          <a:latin typeface="Cambria"/>
                          <a:cs typeface="Cambria"/>
                        </a:rPr>
                        <a:t>identical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889000" y="1033780"/>
            <a:ext cx="6229350" cy="4610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061210" marR="2503805">
              <a:lnSpc>
                <a:spcPct val="145800"/>
              </a:lnSpc>
              <a:spcBef>
                <a:spcPts val="100"/>
              </a:spcBef>
            </a:pPr>
            <a:r>
              <a:rPr dirty="0" sz="1200" spc="75" b="1">
                <a:latin typeface="Cambria"/>
                <a:cs typeface="Cambria"/>
              </a:rPr>
              <a:t>CBSE</a:t>
            </a:r>
            <a:r>
              <a:rPr dirty="0" sz="1200" spc="15" b="1">
                <a:latin typeface="Cambria"/>
                <a:cs typeface="Cambria"/>
              </a:rPr>
              <a:t> </a:t>
            </a:r>
            <a:r>
              <a:rPr dirty="0" sz="1200" spc="55" b="1">
                <a:latin typeface="Cambria"/>
                <a:cs typeface="Cambria"/>
              </a:rPr>
              <a:t>Class</a:t>
            </a:r>
            <a:r>
              <a:rPr dirty="0" sz="1200" spc="20" b="1">
                <a:latin typeface="Cambria"/>
                <a:cs typeface="Cambria"/>
              </a:rPr>
              <a:t> </a:t>
            </a:r>
            <a:r>
              <a:rPr dirty="0" sz="1200" b="1">
                <a:latin typeface="Cambria"/>
                <a:cs typeface="Cambria"/>
              </a:rPr>
              <a:t>10</a:t>
            </a:r>
            <a:r>
              <a:rPr dirty="0" sz="1200" spc="15" b="1">
                <a:latin typeface="Cambria"/>
                <a:cs typeface="Cambria"/>
              </a:rPr>
              <a:t> </a:t>
            </a:r>
            <a:r>
              <a:rPr dirty="0" sz="1200" spc="45" b="1">
                <a:latin typeface="Cambria"/>
                <a:cs typeface="Cambria"/>
              </a:rPr>
              <a:t>Science Revision</a:t>
            </a:r>
            <a:r>
              <a:rPr dirty="0" sz="1200" spc="70" b="1">
                <a:latin typeface="Cambria"/>
                <a:cs typeface="Cambria"/>
              </a:rPr>
              <a:t> </a:t>
            </a:r>
            <a:r>
              <a:rPr dirty="0" sz="1200" spc="35" b="1">
                <a:latin typeface="Cambria"/>
                <a:cs typeface="Cambria"/>
              </a:rPr>
              <a:t>Notes </a:t>
            </a:r>
            <a:r>
              <a:rPr dirty="0" sz="1200" spc="65" b="1">
                <a:latin typeface="Cambria"/>
                <a:cs typeface="Cambria"/>
              </a:rPr>
              <a:t>CHAPTER</a:t>
            </a:r>
            <a:r>
              <a:rPr dirty="0" sz="1200" spc="55" b="1">
                <a:latin typeface="Cambria"/>
                <a:cs typeface="Cambria"/>
              </a:rPr>
              <a:t> </a:t>
            </a:r>
            <a:r>
              <a:rPr dirty="0" sz="1200" b="1">
                <a:latin typeface="Cambria"/>
                <a:cs typeface="Cambria"/>
              </a:rPr>
              <a:t>–</a:t>
            </a:r>
            <a:r>
              <a:rPr dirty="0" sz="1200" spc="60" b="1">
                <a:latin typeface="Cambria"/>
                <a:cs typeface="Cambria"/>
              </a:rPr>
              <a:t> </a:t>
            </a:r>
            <a:r>
              <a:rPr dirty="0" sz="1200" spc="-50" b="1">
                <a:latin typeface="Cambria"/>
                <a:cs typeface="Cambria"/>
              </a:rPr>
              <a:t>8</a:t>
            </a:r>
            <a:endParaRPr sz="1200">
              <a:latin typeface="Cambria"/>
              <a:cs typeface="Cambria"/>
            </a:endParaRPr>
          </a:p>
          <a:p>
            <a:pPr algn="ctr" marR="442595">
              <a:lnSpc>
                <a:spcPct val="100000"/>
              </a:lnSpc>
              <a:spcBef>
                <a:spcPts val="660"/>
              </a:spcBef>
            </a:pPr>
            <a:r>
              <a:rPr dirty="0" sz="1200" spc="105" b="1">
                <a:latin typeface="Cambria"/>
                <a:cs typeface="Cambria"/>
              </a:rPr>
              <a:t>HOW</a:t>
            </a:r>
            <a:r>
              <a:rPr dirty="0" sz="1200" spc="55" b="1">
                <a:latin typeface="Cambria"/>
                <a:cs typeface="Cambria"/>
              </a:rPr>
              <a:t> </a:t>
            </a:r>
            <a:r>
              <a:rPr dirty="0" sz="1200" spc="80" b="1">
                <a:latin typeface="Cambria"/>
                <a:cs typeface="Cambria"/>
              </a:rPr>
              <a:t>DO</a:t>
            </a:r>
            <a:r>
              <a:rPr dirty="0" sz="1200" spc="55" b="1">
                <a:latin typeface="Cambria"/>
                <a:cs typeface="Cambria"/>
              </a:rPr>
              <a:t> </a:t>
            </a:r>
            <a:r>
              <a:rPr dirty="0" sz="1200" spc="95" b="1">
                <a:latin typeface="Cambria"/>
                <a:cs typeface="Cambria"/>
              </a:rPr>
              <a:t>ORGANISM</a:t>
            </a:r>
            <a:r>
              <a:rPr dirty="0" sz="1200" spc="55" b="1">
                <a:latin typeface="Cambria"/>
                <a:cs typeface="Cambria"/>
              </a:rPr>
              <a:t> </a:t>
            </a:r>
            <a:r>
              <a:rPr dirty="0" sz="1200" spc="60" b="1">
                <a:latin typeface="Cambria"/>
                <a:cs typeface="Cambria"/>
              </a:rPr>
              <a:t>REPRODUCE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200">
              <a:latin typeface="Cambria"/>
              <a:cs typeface="Cambria"/>
            </a:endParaRPr>
          </a:p>
          <a:p>
            <a:pPr marL="12700" marR="89535">
              <a:lnSpc>
                <a:spcPct val="145800"/>
              </a:lnSpc>
              <a:spcBef>
                <a:spcPts val="5"/>
              </a:spcBef>
            </a:pPr>
            <a:r>
              <a:rPr dirty="0" sz="1200" spc="55">
                <a:latin typeface="Cambria"/>
                <a:cs typeface="Cambria"/>
              </a:rPr>
              <a:t>Reproduction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process</a:t>
            </a:r>
            <a:r>
              <a:rPr dirty="0" sz="1200" spc="65">
                <a:latin typeface="Cambria"/>
                <a:cs typeface="Cambria"/>
              </a:rPr>
              <a:t> by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living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organisms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produce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new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individuals </a:t>
            </a:r>
            <a:r>
              <a:rPr dirty="0" sz="1200" spc="55">
                <a:latin typeface="Cambria"/>
                <a:cs typeface="Cambria"/>
              </a:rPr>
              <a:t>similar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themselves.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basically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involves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making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copies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blueprints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25">
                <a:latin typeface="Cambria"/>
                <a:cs typeface="Cambria"/>
              </a:rPr>
              <a:t>the </a:t>
            </a:r>
            <a:r>
              <a:rPr dirty="0" sz="1200" spc="60">
                <a:latin typeface="Cambria"/>
                <a:cs typeface="Cambria"/>
              </a:rPr>
              <a:t>body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design.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200" spc="55">
                <a:latin typeface="Cambria"/>
                <a:cs typeface="Cambria"/>
              </a:rPr>
              <a:t>Reproduction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ensures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continuity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50">
                <a:latin typeface="Cambria"/>
                <a:cs typeface="Cambria"/>
              </a:rPr>
              <a:t> life </a:t>
            </a:r>
            <a:r>
              <a:rPr dirty="0" sz="1200" spc="70">
                <a:latin typeface="Cambria"/>
                <a:cs typeface="Cambria"/>
              </a:rPr>
              <a:t>on</a:t>
            </a:r>
            <a:r>
              <a:rPr dirty="0" sz="1200" spc="50">
                <a:latin typeface="Cambria"/>
                <a:cs typeface="Cambria"/>
              </a:rPr>
              <a:t> earth.</a:t>
            </a:r>
            <a:endParaRPr sz="1200">
              <a:latin typeface="Cambria"/>
              <a:cs typeface="Cambria"/>
            </a:endParaRPr>
          </a:p>
          <a:p>
            <a:pPr marL="12700" marR="209550">
              <a:lnSpc>
                <a:spcPct val="145800"/>
              </a:lnSpc>
            </a:pPr>
            <a:r>
              <a:rPr dirty="0" sz="1200" spc="60">
                <a:latin typeface="Cambria"/>
                <a:cs typeface="Cambria"/>
              </a:rPr>
              <a:t>Chromosomes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cell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contain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0">
                <a:latin typeface="Cambria"/>
                <a:cs typeface="Cambria"/>
              </a:rPr>
              <a:t> information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for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inheritance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55">
                <a:latin typeface="Cambria"/>
                <a:cs typeface="Cambria"/>
              </a:rPr>
              <a:t> features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which </a:t>
            </a:r>
            <a:r>
              <a:rPr dirty="0" sz="1200" spc="60">
                <a:latin typeface="Cambria"/>
                <a:cs typeface="Cambria"/>
              </a:rPr>
              <a:t>are </a:t>
            </a:r>
            <a:r>
              <a:rPr dirty="0" sz="1200" spc="50">
                <a:latin typeface="Cambria"/>
                <a:cs typeface="Cambria"/>
              </a:rPr>
              <a:t>passed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from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generation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generation</a:t>
            </a:r>
            <a:r>
              <a:rPr dirty="0" sz="1200" spc="65">
                <a:latin typeface="Cambria"/>
                <a:cs typeface="Cambria"/>
              </a:rPr>
              <a:t> in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form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DNA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molecules.</a:t>
            </a:r>
            <a:endParaRPr sz="1200">
              <a:latin typeface="Cambria"/>
              <a:cs typeface="Cambria"/>
            </a:endParaRPr>
          </a:p>
          <a:p>
            <a:pPr marL="12700" marR="111125">
              <a:lnSpc>
                <a:spcPct val="145800"/>
              </a:lnSpc>
            </a:pPr>
            <a:r>
              <a:rPr dirty="0" sz="1200">
                <a:latin typeface="Cambria"/>
                <a:cs typeface="Cambria"/>
              </a:rPr>
              <a:t>so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reproduction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involves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copying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DNA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other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cell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apparatuses.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copies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35">
                <a:latin typeface="Cambria"/>
                <a:cs typeface="Cambria"/>
              </a:rPr>
              <a:t>will </a:t>
            </a:r>
            <a:r>
              <a:rPr dirty="0" sz="1200" spc="60">
                <a:latin typeface="Cambria"/>
                <a:cs typeface="Cambria"/>
              </a:rPr>
              <a:t>be </a:t>
            </a:r>
            <a:r>
              <a:rPr dirty="0" sz="1200" spc="55">
                <a:latin typeface="Cambria"/>
                <a:cs typeface="Cambria"/>
              </a:rPr>
              <a:t>similar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original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not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identical.</a:t>
            </a:r>
            <a:endParaRPr sz="1200">
              <a:latin typeface="Cambria"/>
              <a:cs typeface="Cambria"/>
            </a:endParaRPr>
          </a:p>
          <a:p>
            <a:pPr marL="12700" marR="329565">
              <a:lnSpc>
                <a:spcPct val="145800"/>
              </a:lnSpc>
            </a:pPr>
            <a:r>
              <a:rPr dirty="0" sz="1200">
                <a:latin typeface="Cambria"/>
                <a:cs typeface="Cambria"/>
              </a:rPr>
              <a:t>This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property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Variation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basis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necessary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for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evolution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living beings.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45800"/>
              </a:lnSpc>
            </a:pPr>
            <a:r>
              <a:rPr dirty="0" sz="1200" spc="50">
                <a:latin typeface="Cambria"/>
                <a:cs typeface="Cambria"/>
              </a:rPr>
              <a:t>Variations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help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species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withstand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drastic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environmental </a:t>
            </a:r>
            <a:r>
              <a:rPr dirty="0" sz="1200" spc="60">
                <a:latin typeface="Cambria"/>
                <a:cs typeface="Cambria"/>
              </a:rPr>
              <a:t>changes,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thus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save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25">
                <a:latin typeface="Cambria"/>
                <a:cs typeface="Cambria"/>
              </a:rPr>
              <a:t>the </a:t>
            </a:r>
            <a:r>
              <a:rPr dirty="0" sz="1200" spc="45">
                <a:latin typeface="Cambria"/>
                <a:cs typeface="Cambria"/>
              </a:rPr>
              <a:t>species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from</a:t>
            </a:r>
            <a:r>
              <a:rPr dirty="0" sz="1200" spc="65">
                <a:latin typeface="Cambria"/>
                <a:cs typeface="Cambria"/>
              </a:rPr>
              <a:t> becoming </a:t>
            </a:r>
            <a:r>
              <a:rPr dirty="0" sz="1200" spc="55">
                <a:latin typeface="Cambria"/>
                <a:cs typeface="Cambria"/>
              </a:rPr>
              <a:t>extinct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promotes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survival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for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longer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time.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04850" y="2584450"/>
            <a:ext cx="63500" cy="63500"/>
            <a:chOff x="704850" y="2584450"/>
            <a:chExt cx="63500" cy="63500"/>
          </a:xfrm>
        </p:grpSpPr>
        <p:sp>
          <p:nvSpPr>
            <p:cNvPr id="6" name="object 6" descr=""/>
            <p:cNvSpPr/>
            <p:nvPr/>
          </p:nvSpPr>
          <p:spPr>
            <a:xfrm>
              <a:off x="711200" y="2590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11200" y="2590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704850" y="3384550"/>
            <a:ext cx="63500" cy="63500"/>
            <a:chOff x="704850" y="3384550"/>
            <a:chExt cx="63500" cy="63500"/>
          </a:xfrm>
        </p:grpSpPr>
        <p:sp>
          <p:nvSpPr>
            <p:cNvPr id="9" name="object 9" descr=""/>
            <p:cNvSpPr/>
            <p:nvPr/>
          </p:nvSpPr>
          <p:spPr>
            <a:xfrm>
              <a:off x="711200" y="33909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11200" y="33909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704850" y="3651250"/>
            <a:ext cx="63500" cy="63500"/>
            <a:chOff x="704850" y="3651250"/>
            <a:chExt cx="63500" cy="63500"/>
          </a:xfrm>
        </p:grpSpPr>
        <p:sp>
          <p:nvSpPr>
            <p:cNvPr id="12" name="object 12" descr=""/>
            <p:cNvSpPr/>
            <p:nvPr/>
          </p:nvSpPr>
          <p:spPr>
            <a:xfrm>
              <a:off x="711200" y="36576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11200" y="36576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704850" y="4184650"/>
            <a:ext cx="63500" cy="63500"/>
            <a:chOff x="704850" y="4184650"/>
            <a:chExt cx="63500" cy="63500"/>
          </a:xfrm>
        </p:grpSpPr>
        <p:sp>
          <p:nvSpPr>
            <p:cNvPr id="15" name="object 15" descr=""/>
            <p:cNvSpPr/>
            <p:nvPr/>
          </p:nvSpPr>
          <p:spPr>
            <a:xfrm>
              <a:off x="711200" y="41910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11200" y="41910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704850" y="4718050"/>
            <a:ext cx="63500" cy="63500"/>
            <a:chOff x="704850" y="4718050"/>
            <a:chExt cx="63500" cy="63500"/>
          </a:xfrm>
        </p:grpSpPr>
        <p:sp>
          <p:nvSpPr>
            <p:cNvPr id="18" name="object 18" descr=""/>
            <p:cNvSpPr/>
            <p:nvPr/>
          </p:nvSpPr>
          <p:spPr>
            <a:xfrm>
              <a:off x="711200" y="47244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11200" y="47244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704850" y="5251450"/>
            <a:ext cx="63500" cy="63500"/>
            <a:chOff x="704850" y="5251450"/>
            <a:chExt cx="63500" cy="63500"/>
          </a:xfrm>
        </p:grpSpPr>
        <p:sp>
          <p:nvSpPr>
            <p:cNvPr id="21" name="object 21" descr=""/>
            <p:cNvSpPr/>
            <p:nvPr/>
          </p:nvSpPr>
          <p:spPr>
            <a:xfrm>
              <a:off x="711200" y="5257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11200" y="5257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704850" y="7880350"/>
            <a:ext cx="63500" cy="63500"/>
            <a:chOff x="704850" y="7880350"/>
            <a:chExt cx="63500" cy="63500"/>
          </a:xfrm>
        </p:grpSpPr>
        <p:sp>
          <p:nvSpPr>
            <p:cNvPr id="24" name="object 24" descr=""/>
            <p:cNvSpPr/>
            <p:nvPr/>
          </p:nvSpPr>
          <p:spPr>
            <a:xfrm>
              <a:off x="711200" y="78867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11200" y="78867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9"/>
                  </a:lnTo>
                  <a:lnTo>
                    <a:pt x="43362" y="43362"/>
                  </a:lnTo>
                  <a:lnTo>
                    <a:pt x="35289" y="48804"/>
                  </a:lnTo>
                  <a:lnTo>
                    <a:pt x="25400" y="50800"/>
                  </a:lnTo>
                  <a:lnTo>
                    <a:pt x="15510" y="48804"/>
                  </a:lnTo>
                  <a:lnTo>
                    <a:pt x="7437" y="43362"/>
                  </a:lnTo>
                  <a:lnTo>
                    <a:pt x="1995" y="35289"/>
                  </a:ln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5289" y="1995"/>
                  </a:lnTo>
                  <a:lnTo>
                    <a:pt x="43362" y="7437"/>
                  </a:lnTo>
                  <a:lnTo>
                    <a:pt x="48804" y="15510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381000" y="7713980"/>
            <a:ext cx="6447790" cy="193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700" marR="97790">
              <a:lnSpc>
                <a:spcPct val="145800"/>
              </a:lnSpc>
              <a:spcBef>
                <a:spcPts val="100"/>
              </a:spcBef>
            </a:pPr>
            <a:r>
              <a:rPr dirty="0" sz="1200" spc="65">
                <a:latin typeface="Cambria"/>
                <a:cs typeface="Cambria"/>
              </a:rPr>
              <a:t>Asexual </a:t>
            </a:r>
            <a:r>
              <a:rPr dirty="0" sz="1200" spc="55">
                <a:latin typeface="Cambria"/>
                <a:cs typeface="Cambria"/>
              </a:rPr>
              <a:t>Reproduction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extremely </a:t>
            </a:r>
            <a:r>
              <a:rPr dirty="0" sz="1200" spc="60">
                <a:latin typeface="Cambria"/>
                <a:cs typeface="Cambria"/>
              </a:rPr>
              <a:t>useful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as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85">
                <a:latin typeface="Cambria"/>
                <a:cs typeface="Cambria"/>
              </a:rPr>
              <a:t>mean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rapid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multiplication.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is </a:t>
            </a:r>
            <a:r>
              <a:rPr dirty="0" sz="1200" spc="80">
                <a:latin typeface="Cambria"/>
                <a:cs typeface="Cambria"/>
              </a:rPr>
              <a:t>common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lower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plants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animals.</a:t>
            </a:r>
            <a:endParaRPr sz="1200">
              <a:latin typeface="Cambria"/>
              <a:cs typeface="Cambria"/>
            </a:endParaRPr>
          </a:p>
          <a:p>
            <a:pPr marL="12700" marR="20320">
              <a:lnSpc>
                <a:spcPct val="145800"/>
              </a:lnSpc>
              <a:spcBef>
                <a:spcPts val="1200"/>
              </a:spcBef>
            </a:pPr>
            <a:r>
              <a:rPr dirty="0" sz="1200" spc="85" b="1">
                <a:latin typeface="Cambria"/>
                <a:cs typeface="Cambria"/>
              </a:rPr>
              <a:t>MODES</a:t>
            </a:r>
            <a:r>
              <a:rPr dirty="0" sz="1200" spc="75" b="1">
                <a:latin typeface="Cambria"/>
                <a:cs typeface="Cambria"/>
              </a:rPr>
              <a:t> </a:t>
            </a:r>
            <a:r>
              <a:rPr dirty="0" sz="1200" spc="85" b="1">
                <a:latin typeface="Cambria"/>
                <a:cs typeface="Cambria"/>
              </a:rPr>
              <a:t>OF</a:t>
            </a:r>
            <a:r>
              <a:rPr dirty="0" sz="1200" spc="80" b="1">
                <a:latin typeface="Cambria"/>
                <a:cs typeface="Cambria"/>
              </a:rPr>
              <a:t> </a:t>
            </a:r>
            <a:r>
              <a:rPr dirty="0" sz="1200" spc="100" b="1">
                <a:latin typeface="Cambria"/>
                <a:cs typeface="Cambria"/>
              </a:rPr>
              <a:t>ASEXUAL</a:t>
            </a:r>
            <a:r>
              <a:rPr dirty="0" sz="1200" spc="80" b="1">
                <a:latin typeface="Cambria"/>
                <a:cs typeface="Cambria"/>
              </a:rPr>
              <a:t> </a:t>
            </a:r>
            <a:r>
              <a:rPr dirty="0" sz="1200" spc="65" b="1">
                <a:latin typeface="Cambria"/>
                <a:cs typeface="Cambria"/>
              </a:rPr>
              <a:t>REPRODUCTION</a:t>
            </a:r>
            <a:r>
              <a:rPr dirty="0" sz="1200" spc="75" b="1">
                <a:latin typeface="Cambria"/>
                <a:cs typeface="Cambria"/>
              </a:rPr>
              <a:t> </a:t>
            </a:r>
            <a:r>
              <a:rPr dirty="0" sz="1200" b="1">
                <a:latin typeface="Cambria"/>
                <a:cs typeface="Cambria"/>
              </a:rPr>
              <a:t>:</a:t>
            </a:r>
            <a:r>
              <a:rPr dirty="0" sz="1200" spc="80" b="1">
                <a:latin typeface="Cambria"/>
                <a:cs typeface="Cambria"/>
              </a:rPr>
              <a:t> </a:t>
            </a:r>
            <a:r>
              <a:rPr dirty="0" sz="1200" spc="55" b="1">
                <a:latin typeface="Cambria"/>
                <a:cs typeface="Cambria"/>
              </a:rPr>
              <a:t>the</a:t>
            </a:r>
            <a:r>
              <a:rPr dirty="0" sz="1200" spc="80" b="1">
                <a:latin typeface="Cambria"/>
                <a:cs typeface="Cambria"/>
              </a:rPr>
              <a:t> </a:t>
            </a:r>
            <a:r>
              <a:rPr dirty="0" sz="1200" spc="60" b="1">
                <a:latin typeface="Cambria"/>
                <a:cs typeface="Cambria"/>
              </a:rPr>
              <a:t>mode</a:t>
            </a:r>
            <a:r>
              <a:rPr dirty="0" sz="1200" spc="75" b="1">
                <a:latin typeface="Cambria"/>
                <a:cs typeface="Cambria"/>
              </a:rPr>
              <a:t> </a:t>
            </a:r>
            <a:r>
              <a:rPr dirty="0" sz="1200" spc="50" b="1">
                <a:latin typeface="Cambria"/>
                <a:cs typeface="Cambria"/>
              </a:rPr>
              <a:t>depends</a:t>
            </a:r>
            <a:r>
              <a:rPr dirty="0" sz="1200" spc="80" b="1">
                <a:latin typeface="Cambria"/>
                <a:cs typeface="Cambria"/>
              </a:rPr>
              <a:t> </a:t>
            </a:r>
            <a:r>
              <a:rPr dirty="0" sz="1200" spc="50" b="1">
                <a:latin typeface="Cambria"/>
                <a:cs typeface="Cambria"/>
              </a:rPr>
              <a:t>on</a:t>
            </a:r>
            <a:r>
              <a:rPr dirty="0" sz="1200" spc="80" b="1">
                <a:latin typeface="Cambria"/>
                <a:cs typeface="Cambria"/>
              </a:rPr>
              <a:t> </a:t>
            </a:r>
            <a:r>
              <a:rPr dirty="0" sz="1200" spc="55" b="1">
                <a:latin typeface="Cambria"/>
                <a:cs typeface="Cambria"/>
              </a:rPr>
              <a:t>the</a:t>
            </a:r>
            <a:r>
              <a:rPr dirty="0" sz="1200" spc="80" b="1">
                <a:latin typeface="Cambria"/>
                <a:cs typeface="Cambria"/>
              </a:rPr>
              <a:t> </a:t>
            </a:r>
            <a:r>
              <a:rPr dirty="0" sz="1200" spc="50" b="1">
                <a:latin typeface="Cambria"/>
                <a:cs typeface="Cambria"/>
              </a:rPr>
              <a:t>body</a:t>
            </a:r>
            <a:r>
              <a:rPr dirty="0" sz="1200" spc="75" b="1">
                <a:latin typeface="Cambria"/>
                <a:cs typeface="Cambria"/>
              </a:rPr>
              <a:t> </a:t>
            </a:r>
            <a:r>
              <a:rPr dirty="0" sz="1200" b="1">
                <a:latin typeface="Cambria"/>
                <a:cs typeface="Cambria"/>
              </a:rPr>
              <a:t>design</a:t>
            </a:r>
            <a:r>
              <a:rPr dirty="0" sz="1200" spc="80" b="1">
                <a:latin typeface="Cambria"/>
                <a:cs typeface="Cambria"/>
              </a:rPr>
              <a:t> </a:t>
            </a:r>
            <a:r>
              <a:rPr dirty="0" sz="1200" spc="65" b="1">
                <a:latin typeface="Cambria"/>
                <a:cs typeface="Cambria"/>
              </a:rPr>
              <a:t>of</a:t>
            </a:r>
            <a:r>
              <a:rPr dirty="0" sz="1200" spc="80" b="1">
                <a:latin typeface="Cambria"/>
                <a:cs typeface="Cambria"/>
              </a:rPr>
              <a:t> </a:t>
            </a:r>
            <a:r>
              <a:rPr dirty="0" sz="1200" spc="30" b="1">
                <a:latin typeface="Cambria"/>
                <a:cs typeface="Cambria"/>
              </a:rPr>
              <a:t>the </a:t>
            </a:r>
            <a:r>
              <a:rPr dirty="0" sz="1200" spc="50" b="1">
                <a:latin typeface="Cambria"/>
                <a:cs typeface="Cambria"/>
              </a:rPr>
              <a:t>organism.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45800"/>
              </a:lnSpc>
              <a:spcBef>
                <a:spcPts val="1200"/>
              </a:spcBef>
            </a:pPr>
            <a:r>
              <a:rPr dirty="0" sz="1200" spc="10">
                <a:latin typeface="Cambria"/>
                <a:cs typeface="Cambria"/>
              </a:rPr>
              <a:t>1.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65" b="1">
                <a:latin typeface="Cambria"/>
                <a:cs typeface="Cambria"/>
              </a:rPr>
              <a:t>FISSION</a:t>
            </a:r>
            <a:r>
              <a:rPr dirty="0" sz="1200" spc="65">
                <a:latin typeface="Cambria"/>
                <a:cs typeface="Cambria"/>
              </a:rPr>
              <a:t>:The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parent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cell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divides/splits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into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two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daughter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cell-</a:t>
            </a:r>
            <a:r>
              <a:rPr dirty="0" sz="1200" spc="60">
                <a:latin typeface="Cambria"/>
                <a:cs typeface="Cambria"/>
              </a:rPr>
              <a:t>Binary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Fission;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splits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-20">
                <a:latin typeface="Cambria"/>
                <a:cs typeface="Cambria"/>
              </a:rPr>
              <a:t>into </a:t>
            </a:r>
            <a:r>
              <a:rPr dirty="0" sz="1200" spc="90">
                <a:latin typeface="Cambria"/>
                <a:cs typeface="Cambria"/>
              </a:rPr>
              <a:t>many</a:t>
            </a:r>
            <a:r>
              <a:rPr dirty="0" sz="1200" spc="15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cells-</a:t>
            </a:r>
            <a:r>
              <a:rPr dirty="0" sz="1200" spc="55">
                <a:latin typeface="Cambria"/>
                <a:cs typeface="Cambria"/>
              </a:rPr>
              <a:t>multiple</a:t>
            </a:r>
            <a:r>
              <a:rPr dirty="0" sz="1200" spc="155">
                <a:latin typeface="Cambria"/>
                <a:cs typeface="Cambria"/>
              </a:rPr>
              <a:t> </a:t>
            </a:r>
            <a:r>
              <a:rPr dirty="0" sz="1200" spc="35">
                <a:latin typeface="Cambria"/>
                <a:cs typeface="Cambria"/>
              </a:rPr>
              <a:t>Fission.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248" y="222713"/>
            <a:ext cx="1418676" cy="429030"/>
          </a:xfrm>
          <a:prstGeom prst="rect">
            <a:avLst/>
          </a:prstGeom>
        </p:spPr>
      </p:pic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10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  <p:sp>
        <p:nvSpPr>
          <p:cNvPr id="29" name="object 29" descr=""/>
          <p:cNvSpPr txBox="1"/>
          <p:nvPr/>
        </p:nvSpPr>
        <p:spPr>
          <a:xfrm>
            <a:off x="2068309" y="10070131"/>
            <a:ext cx="2965450" cy="1733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20" b="1">
                <a:latin typeface="Cambria"/>
                <a:cs typeface="Cambria"/>
              </a:rPr>
              <a:t>Material</a:t>
            </a:r>
            <a:r>
              <a:rPr dirty="0" sz="1000" spc="220" b="1">
                <a:latin typeface="Cambria"/>
                <a:cs typeface="Cambria"/>
              </a:rPr>
              <a:t> </a:t>
            </a:r>
            <a:r>
              <a:rPr dirty="0" sz="1000" spc="20" b="1">
                <a:latin typeface="Cambria"/>
                <a:cs typeface="Cambria"/>
              </a:rPr>
              <a:t>downloaded</a:t>
            </a:r>
            <a:r>
              <a:rPr dirty="0" sz="1000" spc="240" b="1">
                <a:latin typeface="Cambria"/>
                <a:cs typeface="Cambria"/>
              </a:rPr>
              <a:t> </a:t>
            </a:r>
            <a:r>
              <a:rPr dirty="0" sz="1000" spc="60" b="1">
                <a:latin typeface="Cambria"/>
                <a:cs typeface="Cambria"/>
              </a:rPr>
              <a:t>from</a:t>
            </a:r>
            <a:r>
              <a:rPr dirty="0" sz="1000" spc="204" b="1">
                <a:latin typeface="Cambria"/>
                <a:cs typeface="Cambria"/>
              </a:rPr>
              <a:t> </a:t>
            </a:r>
            <a:r>
              <a:rPr dirty="0" u="sng" sz="1000" spc="-10" b="1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Arial"/>
                <a:cs typeface="Arial"/>
                <a:hlinkClick r:id="rId3"/>
              </a:rPr>
              <a:t>www.vidyakul.com</a:t>
            </a:r>
            <a:r>
              <a:rPr dirty="0" sz="1000" spc="-10" b="1">
                <a:latin typeface="Cambria"/>
                <a:cs typeface="Cambria"/>
                <a:hlinkClick r:id="rId3"/>
              </a:rPr>
              <a:t>.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93700" y="1358900"/>
          <a:ext cx="6845300" cy="2425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56000"/>
                <a:gridCol w="3200400"/>
              </a:tblGrid>
              <a:tr h="279400">
                <a:tc gridSpan="2">
                  <a:txBody>
                    <a:bodyPr/>
                    <a:lstStyle/>
                    <a:p>
                      <a:pPr algn="ctr" marL="635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70" b="1">
                          <a:latin typeface="Cambria"/>
                          <a:cs typeface="Cambria"/>
                        </a:rPr>
                        <a:t>FISSION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4630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60">
                          <a:latin typeface="Cambria"/>
                          <a:cs typeface="Cambria"/>
                        </a:rPr>
                        <a:t>Binary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Fission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69850" marR="170180">
                        <a:lnSpc>
                          <a:spcPct val="145800"/>
                        </a:lnSpc>
                      </a:pPr>
                      <a:r>
                        <a:rPr dirty="0" sz="1200" spc="50"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2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parents</a:t>
                      </a:r>
                      <a:r>
                        <a:rPr dirty="0" sz="12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cell</a:t>
                      </a:r>
                      <a:r>
                        <a:rPr dirty="0" sz="12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divides</a:t>
                      </a:r>
                      <a:r>
                        <a:rPr dirty="0" sz="12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into</a:t>
                      </a:r>
                      <a:r>
                        <a:rPr dirty="0" sz="1200" spc="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two</a:t>
                      </a:r>
                      <a:r>
                        <a:rPr dirty="0" sz="12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5">
                          <a:latin typeface="Cambria"/>
                          <a:cs typeface="Cambria"/>
                        </a:rPr>
                        <a:t>equal</a:t>
                      </a:r>
                      <a:r>
                        <a:rPr dirty="0" sz="12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halves </a:t>
                      </a:r>
                      <a:r>
                        <a:rPr dirty="0" sz="1200" spc="65">
                          <a:latin typeface="Cambria"/>
                          <a:cs typeface="Cambria"/>
                        </a:rPr>
                        <a:t>Equal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 halves</a:t>
                      </a:r>
                      <a:r>
                        <a:rPr dirty="0" sz="1200" spc="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45">
                          <a:latin typeface="Cambria"/>
                          <a:cs typeface="Cambria"/>
                        </a:rPr>
                        <a:t>(daughter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cells)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69850" marR="677545">
                        <a:lnSpc>
                          <a:spcPct val="145800"/>
                        </a:lnSpc>
                      </a:pPr>
                      <a:r>
                        <a:rPr dirty="0" sz="1200" spc="65">
                          <a:latin typeface="Cambria"/>
                          <a:cs typeface="Cambria"/>
                        </a:rPr>
                        <a:t>E.g. </a:t>
                      </a:r>
                      <a:r>
                        <a:rPr dirty="0" sz="1200" spc="75">
                          <a:latin typeface="Cambria"/>
                          <a:cs typeface="Cambria"/>
                        </a:rPr>
                        <a:t>Amoeba</a:t>
                      </a:r>
                      <a:r>
                        <a:rPr dirty="0" sz="1200" spc="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follows</a:t>
                      </a:r>
                      <a:r>
                        <a:rPr dirty="0" sz="1200" spc="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transverse</a:t>
                      </a:r>
                      <a:r>
                        <a:rPr dirty="0" sz="1200" spc="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binary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fission,i.e.</a:t>
                      </a:r>
                      <a:r>
                        <a:rPr dirty="0" sz="1200" spc="1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fissin</a:t>
                      </a:r>
                      <a:r>
                        <a:rPr dirty="0" sz="1200" spc="1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5">
                          <a:latin typeface="Cambria"/>
                          <a:cs typeface="Cambria"/>
                        </a:rPr>
                        <a:t>in</a:t>
                      </a:r>
                      <a:r>
                        <a:rPr dirty="0" sz="1200" spc="1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75">
                          <a:latin typeface="Cambria"/>
                          <a:cs typeface="Cambria"/>
                        </a:rPr>
                        <a:t>any</a:t>
                      </a:r>
                      <a:r>
                        <a:rPr dirty="0" sz="1200" spc="1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plane.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69850" marR="160020">
                        <a:lnSpc>
                          <a:spcPct val="145800"/>
                        </a:lnSpc>
                      </a:pPr>
                      <a:r>
                        <a:rPr dirty="0" sz="1200" spc="-4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&gt;Leishmania</a:t>
                      </a:r>
                      <a:r>
                        <a:rPr dirty="0" sz="12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has</a:t>
                      </a:r>
                      <a:r>
                        <a:rPr dirty="0" sz="12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80">
                          <a:latin typeface="Cambria"/>
                          <a:cs typeface="Cambria"/>
                        </a:rPr>
                        <a:t>a</a:t>
                      </a:r>
                      <a:r>
                        <a:rPr dirty="0" sz="12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whip-like</a:t>
                      </a:r>
                      <a:r>
                        <a:rPr dirty="0" sz="12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structure</a:t>
                      </a:r>
                      <a:r>
                        <a:rPr dirty="0" sz="12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at</a:t>
                      </a:r>
                      <a:r>
                        <a:rPr dirty="0" sz="12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35">
                          <a:latin typeface="Cambria"/>
                          <a:cs typeface="Cambria"/>
                        </a:rPr>
                        <a:t>one </a:t>
                      </a:r>
                      <a:r>
                        <a:rPr dirty="0" sz="1200" spc="70">
                          <a:latin typeface="Cambria"/>
                          <a:cs typeface="Cambria"/>
                        </a:rPr>
                        <a:t>end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75"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5">
                          <a:latin typeface="Cambria"/>
                          <a:cs typeface="Cambria"/>
                        </a:rPr>
                        <a:t>binary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45">
                          <a:latin typeface="Cambria"/>
                          <a:cs typeface="Cambria"/>
                        </a:rPr>
                        <a:t>fission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occurs </a:t>
                      </a:r>
                      <a:r>
                        <a:rPr dirty="0" sz="1200" spc="65">
                          <a:latin typeface="Cambria"/>
                          <a:cs typeface="Cambria"/>
                        </a:rPr>
                        <a:t>in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80">
                          <a:latin typeface="Cambria"/>
                          <a:cs typeface="Cambria"/>
                        </a:rPr>
                        <a:t>a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40">
                          <a:latin typeface="Cambria"/>
                          <a:cs typeface="Cambria"/>
                        </a:rPr>
                        <a:t>definite </a:t>
                      </a:r>
                      <a:r>
                        <a:rPr dirty="0" sz="1200" spc="45">
                          <a:latin typeface="Cambria"/>
                          <a:cs typeface="Cambria"/>
                        </a:rPr>
                        <a:t>orientation.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dirty="0" sz="1200" spc="60">
                          <a:latin typeface="Cambria"/>
                          <a:cs typeface="Cambria"/>
                        </a:rPr>
                        <a:t>Multiple</a:t>
                      </a:r>
                      <a:r>
                        <a:rPr dirty="0" sz="1200" spc="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Fission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69850" marR="694055">
                        <a:lnSpc>
                          <a:spcPct val="145800"/>
                        </a:lnSpc>
                      </a:pPr>
                      <a:r>
                        <a:rPr dirty="0" sz="1200" spc="50"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2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parent</a:t>
                      </a:r>
                      <a:r>
                        <a:rPr dirty="0" sz="12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cell</a:t>
                      </a:r>
                      <a:r>
                        <a:rPr dirty="0" sz="12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divides</a:t>
                      </a:r>
                      <a:r>
                        <a:rPr dirty="0" sz="12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into</a:t>
                      </a:r>
                      <a:r>
                        <a:rPr dirty="0" sz="12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70">
                          <a:latin typeface="Cambria"/>
                          <a:cs typeface="Cambria"/>
                        </a:rPr>
                        <a:t>many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daughter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cell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simultaneously.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60">
                          <a:latin typeface="Cambria"/>
                          <a:cs typeface="Cambria"/>
                        </a:rPr>
                        <a:t>Eg.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Plasmodium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4152900"/>
            <a:ext cx="5207000" cy="17272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80987" y="6024879"/>
            <a:ext cx="6771640" cy="1663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95655">
              <a:lnSpc>
                <a:spcPct val="145800"/>
              </a:lnSpc>
              <a:spcBef>
                <a:spcPts val="100"/>
              </a:spcBef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process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where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nucleus </a:t>
            </a:r>
            <a:r>
              <a:rPr dirty="0" sz="1200" spc="55">
                <a:latin typeface="Cambria"/>
                <a:cs typeface="Cambria"/>
              </a:rPr>
              <a:t>lengthens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65">
                <a:latin typeface="Cambria"/>
                <a:cs typeface="Cambria"/>
              </a:rPr>
              <a:t> NUCLEOKINESIS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where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cytoplasm </a:t>
            </a:r>
            <a:r>
              <a:rPr dirty="0" sz="1200" spc="55">
                <a:latin typeface="Cambria"/>
                <a:cs typeface="Cambria"/>
              </a:rPr>
              <a:t>lenghthens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CYTOKINESIS.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45800"/>
              </a:lnSpc>
              <a:spcBef>
                <a:spcPts val="1200"/>
              </a:spcBef>
            </a:pPr>
            <a:r>
              <a:rPr dirty="0" sz="1200">
                <a:latin typeface="Cambria"/>
                <a:cs typeface="Cambria"/>
              </a:rPr>
              <a:t>2.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0" b="1">
                <a:latin typeface="Cambria"/>
                <a:cs typeface="Cambria"/>
              </a:rPr>
              <a:t>BUDDING:</a:t>
            </a:r>
            <a:r>
              <a:rPr dirty="0" sz="1200" spc="65" b="1">
                <a:latin typeface="Cambria"/>
                <a:cs typeface="Cambria"/>
              </a:rPr>
              <a:t> </a:t>
            </a:r>
            <a:r>
              <a:rPr dirty="0" sz="1200" spc="90">
                <a:latin typeface="Cambria"/>
                <a:cs typeface="Cambria"/>
              </a:rPr>
              <a:t>A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bud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develops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as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85">
                <a:latin typeface="Cambria"/>
                <a:cs typeface="Cambria"/>
              </a:rPr>
              <a:t>an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outgrowth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on</a:t>
            </a:r>
            <a:r>
              <a:rPr dirty="0" sz="1200" spc="60">
                <a:latin typeface="Cambria"/>
                <a:cs typeface="Cambria"/>
              </a:rPr>
              <a:t> parent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body</a:t>
            </a:r>
            <a:r>
              <a:rPr dirty="0" sz="1200" spc="65">
                <a:latin typeface="Cambria"/>
                <a:cs typeface="Cambria"/>
              </a:rPr>
              <a:t> due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repeated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cell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division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at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specific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site.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These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buds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detach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from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parent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body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when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they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mature.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65">
                <a:latin typeface="Cambria"/>
                <a:cs typeface="Cambria"/>
              </a:rPr>
              <a:t>E.g. </a:t>
            </a:r>
            <a:r>
              <a:rPr dirty="0" sz="1200" spc="70">
                <a:latin typeface="Cambria"/>
                <a:cs typeface="Cambria"/>
              </a:rPr>
              <a:t>Hydra,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yeast.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900" y="7924800"/>
            <a:ext cx="5308600" cy="14097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81000" y="9512300"/>
            <a:ext cx="61023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"/>
                <a:cs typeface="Cambria"/>
              </a:rPr>
              <a:t>3.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5" b="1">
                <a:latin typeface="Cambria"/>
                <a:cs typeface="Cambria"/>
              </a:rPr>
              <a:t>SPORE</a:t>
            </a:r>
            <a:r>
              <a:rPr dirty="0" sz="1200" spc="85" b="1">
                <a:latin typeface="Cambria"/>
                <a:cs typeface="Cambria"/>
              </a:rPr>
              <a:t> </a:t>
            </a:r>
            <a:r>
              <a:rPr dirty="0" sz="1200" spc="80" b="1">
                <a:latin typeface="Cambria"/>
                <a:cs typeface="Cambria"/>
              </a:rPr>
              <a:t>FORMATION</a:t>
            </a:r>
            <a:r>
              <a:rPr dirty="0" sz="1200" spc="90" b="1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: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Spores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are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present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sporangia,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are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small,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bulb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like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130" y="204793"/>
            <a:ext cx="1418676" cy="429030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10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068309" y="10070131"/>
            <a:ext cx="2965450" cy="1733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20" b="1">
                <a:latin typeface="Cambria"/>
                <a:cs typeface="Cambria"/>
              </a:rPr>
              <a:t>Material</a:t>
            </a:r>
            <a:r>
              <a:rPr dirty="0" sz="1000" spc="220" b="1">
                <a:latin typeface="Cambria"/>
                <a:cs typeface="Cambria"/>
              </a:rPr>
              <a:t> </a:t>
            </a:r>
            <a:r>
              <a:rPr dirty="0" sz="1000" spc="20" b="1">
                <a:latin typeface="Cambria"/>
                <a:cs typeface="Cambria"/>
              </a:rPr>
              <a:t>downloaded</a:t>
            </a:r>
            <a:r>
              <a:rPr dirty="0" sz="1000" spc="240" b="1">
                <a:latin typeface="Cambria"/>
                <a:cs typeface="Cambria"/>
              </a:rPr>
              <a:t> </a:t>
            </a:r>
            <a:r>
              <a:rPr dirty="0" sz="1000" spc="60" b="1">
                <a:latin typeface="Cambria"/>
                <a:cs typeface="Cambria"/>
              </a:rPr>
              <a:t>from</a:t>
            </a:r>
            <a:r>
              <a:rPr dirty="0" sz="1000" spc="204" b="1">
                <a:latin typeface="Cambria"/>
                <a:cs typeface="Cambria"/>
              </a:rPr>
              <a:t> </a:t>
            </a:r>
            <a:r>
              <a:rPr dirty="0" u="sng" sz="1000" spc="-10" b="1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Arial"/>
                <a:cs typeface="Arial"/>
                <a:hlinkClick r:id="rId5"/>
              </a:rPr>
              <a:t>www.vidyakul.com</a:t>
            </a:r>
            <a:r>
              <a:rPr dirty="0" sz="1000" spc="-10" b="1">
                <a:latin typeface="Cambria"/>
                <a:cs typeface="Cambria"/>
                <a:hlinkClick r:id="rId5"/>
              </a:rPr>
              <a:t>.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1000" y="881380"/>
            <a:ext cx="6713855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45800"/>
              </a:lnSpc>
              <a:spcBef>
                <a:spcPts val="100"/>
              </a:spcBef>
            </a:pPr>
            <a:r>
              <a:rPr dirty="0" sz="1200" spc="50">
                <a:latin typeface="Cambria"/>
                <a:cs typeface="Cambria"/>
              </a:rPr>
              <a:t>structure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are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covered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by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thick walls</a:t>
            </a:r>
            <a:r>
              <a:rPr dirty="0" sz="1200" spc="50">
                <a:latin typeface="Cambria"/>
                <a:cs typeface="Cambria"/>
              </a:rPr>
              <a:t> that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protect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them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until they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come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50">
                <a:latin typeface="Cambria"/>
                <a:cs typeface="Cambria"/>
              </a:rPr>
              <a:t> contact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with </a:t>
            </a:r>
            <a:r>
              <a:rPr dirty="0" sz="1200" spc="50">
                <a:latin typeface="Cambria"/>
                <a:cs typeface="Cambria"/>
              </a:rPr>
              <a:t>suitable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condition.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Under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favourable </a:t>
            </a:r>
            <a:r>
              <a:rPr dirty="0" sz="1200" spc="50">
                <a:latin typeface="Cambria"/>
                <a:cs typeface="Cambria"/>
              </a:rPr>
              <a:t>conditions,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they</a:t>
            </a:r>
            <a:r>
              <a:rPr dirty="0" sz="1200" spc="60">
                <a:latin typeface="Cambria"/>
                <a:cs typeface="Cambria"/>
              </a:rPr>
              <a:t> germinate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60">
                <a:latin typeface="Cambria"/>
                <a:cs typeface="Cambria"/>
              </a:rPr>
              <a:t> produce </a:t>
            </a:r>
            <a:r>
              <a:rPr dirty="0" sz="1200" spc="80">
                <a:latin typeface="Cambria"/>
                <a:cs typeface="Cambria"/>
              </a:rPr>
              <a:t>new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Rhizopus </a:t>
            </a:r>
            <a:r>
              <a:rPr dirty="0" sz="1200" spc="55">
                <a:latin typeface="Cambria"/>
                <a:cs typeface="Cambria"/>
              </a:rPr>
              <a:t>indiviual.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943100"/>
            <a:ext cx="2743200" cy="22225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81000" y="4272279"/>
            <a:ext cx="661479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01675">
              <a:lnSpc>
                <a:spcPct val="145800"/>
              </a:lnSpc>
              <a:spcBef>
                <a:spcPts val="100"/>
              </a:spcBef>
            </a:pPr>
            <a:r>
              <a:rPr dirty="0" sz="1200">
                <a:latin typeface="Cambria"/>
                <a:cs typeface="Cambria"/>
              </a:rPr>
              <a:t>4.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80" b="1">
                <a:latin typeface="Cambria"/>
                <a:cs typeface="Cambria"/>
              </a:rPr>
              <a:t>FRAGMENTATION</a:t>
            </a:r>
            <a:r>
              <a:rPr dirty="0" sz="1200" spc="100" b="1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: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takes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place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multicellular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organism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with</a:t>
            </a:r>
            <a:r>
              <a:rPr dirty="0" u="sng" sz="1200" spc="10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200" spc="5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simple</a:t>
            </a:r>
            <a:r>
              <a:rPr dirty="0" u="sng" sz="1200" spc="1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200" spc="3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body</a:t>
            </a:r>
            <a:r>
              <a:rPr dirty="0" sz="1200" spc="30" b="1">
                <a:latin typeface="Cambria"/>
                <a:cs typeface="Cambria"/>
              </a:rPr>
              <a:t> </a:t>
            </a:r>
            <a:r>
              <a:rPr dirty="0" u="sng" sz="1200" spc="4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organisation</a:t>
            </a:r>
            <a:r>
              <a:rPr dirty="0" sz="1200" spc="40">
                <a:latin typeface="Cambria"/>
                <a:cs typeface="Cambria"/>
              </a:rPr>
              <a:t>.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45800"/>
              </a:lnSpc>
              <a:spcBef>
                <a:spcPts val="1200"/>
              </a:spcBef>
            </a:pPr>
            <a:r>
              <a:rPr dirty="0" sz="1200" spc="20">
                <a:latin typeface="Cambria"/>
                <a:cs typeface="Cambria"/>
              </a:rPr>
              <a:t>It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20">
                <a:latin typeface="Cambria"/>
                <a:cs typeface="Cambria"/>
              </a:rPr>
              <a:t>is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accidental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process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when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brokenpieces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85">
                <a:latin typeface="Cambria"/>
                <a:cs typeface="Cambria"/>
              </a:rPr>
              <a:t> an </a:t>
            </a:r>
            <a:r>
              <a:rPr dirty="0" sz="1200" spc="60">
                <a:latin typeface="Cambria"/>
                <a:cs typeface="Cambria"/>
              </a:rPr>
              <a:t>organism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20">
                <a:latin typeface="Cambria"/>
                <a:cs typeface="Cambria"/>
              </a:rPr>
              <a:t>(fragments)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grows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20">
                <a:latin typeface="Cambria"/>
                <a:cs typeface="Cambria"/>
              </a:rPr>
              <a:t>into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20">
                <a:latin typeface="Cambria"/>
                <a:cs typeface="Cambria"/>
              </a:rPr>
              <a:t>a </a:t>
            </a:r>
            <a:r>
              <a:rPr dirty="0" sz="1200" spc="55">
                <a:latin typeface="Cambria"/>
                <a:cs typeface="Cambria"/>
              </a:rPr>
              <a:t>complete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organism.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" y="5651500"/>
            <a:ext cx="5181600" cy="14732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81000" y="7218680"/>
            <a:ext cx="6631940" cy="1358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100"/>
              </a:spcBef>
            </a:pPr>
            <a:r>
              <a:rPr dirty="0" sz="1200" b="1">
                <a:latin typeface="Cambria"/>
                <a:cs typeface="Cambria"/>
              </a:rPr>
              <a:t>5.</a:t>
            </a:r>
            <a:r>
              <a:rPr dirty="0" sz="1200" spc="60" b="1">
                <a:latin typeface="Cambria"/>
                <a:cs typeface="Cambria"/>
              </a:rPr>
              <a:t> </a:t>
            </a:r>
            <a:r>
              <a:rPr dirty="0" sz="1200" spc="80" b="1">
                <a:latin typeface="Cambria"/>
                <a:cs typeface="Cambria"/>
              </a:rPr>
              <a:t>REGENERATION</a:t>
            </a:r>
            <a:r>
              <a:rPr dirty="0" sz="1200" spc="65" b="1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: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95">
                <a:latin typeface="Cambria"/>
                <a:cs typeface="Cambria"/>
              </a:rPr>
              <a:t>When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simple</a:t>
            </a:r>
            <a:r>
              <a:rPr dirty="0" sz="1200" spc="65">
                <a:latin typeface="Cambria"/>
                <a:cs typeface="Cambria"/>
              </a:rPr>
              <a:t> animals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like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Hydra</a:t>
            </a:r>
            <a:r>
              <a:rPr dirty="0" sz="1200" spc="60">
                <a:latin typeface="Cambria"/>
                <a:cs typeface="Cambria"/>
              </a:rPr>
              <a:t> ,Planaria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develop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new </a:t>
            </a:r>
            <a:r>
              <a:rPr dirty="0" sz="1200" spc="60">
                <a:latin typeface="Cambria"/>
                <a:cs typeface="Cambria"/>
              </a:rPr>
              <a:t>individual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from </a:t>
            </a:r>
            <a:r>
              <a:rPr dirty="0" sz="1200" spc="50">
                <a:latin typeface="Cambria"/>
                <a:cs typeface="Cambria"/>
              </a:rPr>
              <a:t>their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broken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older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part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75">
                <a:latin typeface="Cambria"/>
                <a:cs typeface="Cambria"/>
              </a:rPr>
              <a:t> known </a:t>
            </a:r>
            <a:r>
              <a:rPr dirty="0" sz="1200" spc="50">
                <a:latin typeface="Cambria"/>
                <a:cs typeface="Cambria"/>
              </a:rPr>
              <a:t>as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regeneration.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carried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out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by </a:t>
            </a:r>
            <a:r>
              <a:rPr dirty="0" sz="1200" spc="45">
                <a:latin typeface="Cambria"/>
                <a:cs typeface="Cambria"/>
              </a:rPr>
              <a:t>specialised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cells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divide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differentiate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form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complete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individual.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These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cells </a:t>
            </a:r>
            <a:r>
              <a:rPr dirty="0" sz="1200" spc="60">
                <a:latin typeface="Cambria"/>
                <a:cs typeface="Cambria"/>
              </a:rPr>
              <a:t>multiply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from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this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mass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cells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other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parts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are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generated.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Regeneration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follows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an </a:t>
            </a:r>
            <a:r>
              <a:rPr dirty="0" sz="1200" spc="55">
                <a:latin typeface="Cambria"/>
                <a:cs typeface="Cambria"/>
              </a:rPr>
              <a:t>organised</a:t>
            </a:r>
            <a:r>
              <a:rPr dirty="0" sz="1200" spc="60">
                <a:latin typeface="Cambria"/>
                <a:cs typeface="Cambria"/>
              </a:rPr>
              <a:t> sequence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referred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as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DEVELOPMENT.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2912" y="207575"/>
            <a:ext cx="1418676" cy="429030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10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068309" y="10070131"/>
            <a:ext cx="2965450" cy="1733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20" b="1">
                <a:latin typeface="Cambria"/>
                <a:cs typeface="Cambria"/>
              </a:rPr>
              <a:t>Material</a:t>
            </a:r>
            <a:r>
              <a:rPr dirty="0" sz="1000" spc="220" b="1">
                <a:latin typeface="Cambria"/>
                <a:cs typeface="Cambria"/>
              </a:rPr>
              <a:t> </a:t>
            </a:r>
            <a:r>
              <a:rPr dirty="0" sz="1000" spc="20" b="1">
                <a:latin typeface="Cambria"/>
                <a:cs typeface="Cambria"/>
              </a:rPr>
              <a:t>downloaded</a:t>
            </a:r>
            <a:r>
              <a:rPr dirty="0" sz="1000" spc="240" b="1">
                <a:latin typeface="Cambria"/>
                <a:cs typeface="Cambria"/>
              </a:rPr>
              <a:t> </a:t>
            </a:r>
            <a:r>
              <a:rPr dirty="0" sz="1000" spc="60" b="1">
                <a:latin typeface="Cambria"/>
                <a:cs typeface="Cambria"/>
              </a:rPr>
              <a:t>from</a:t>
            </a:r>
            <a:r>
              <a:rPr dirty="0" sz="1000" spc="204" b="1">
                <a:latin typeface="Cambria"/>
                <a:cs typeface="Cambria"/>
              </a:rPr>
              <a:t> </a:t>
            </a:r>
            <a:r>
              <a:rPr dirty="0" u="sng" sz="1000" spc="-10" b="1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Arial"/>
                <a:cs typeface="Arial"/>
                <a:hlinkClick r:id="rId5"/>
              </a:rPr>
              <a:t>www.vidyakul.com</a:t>
            </a:r>
            <a:r>
              <a:rPr dirty="0" sz="1000" spc="-10" b="1">
                <a:latin typeface="Cambria"/>
                <a:cs typeface="Cambria"/>
                <a:hlinkClick r:id="rId5"/>
              </a:rPr>
              <a:t>.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500" y="939800"/>
            <a:ext cx="3886200" cy="24257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0987" y="3543300"/>
            <a:ext cx="6719570" cy="6189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0" b="1">
                <a:latin typeface="Cambria"/>
                <a:cs typeface="Cambria"/>
              </a:rPr>
              <a:t>Vegetative </a:t>
            </a:r>
            <a:r>
              <a:rPr dirty="0" sz="1200" spc="40" b="1">
                <a:latin typeface="Cambria"/>
                <a:cs typeface="Cambria"/>
              </a:rPr>
              <a:t>Propagation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45800"/>
              </a:lnSpc>
              <a:spcBef>
                <a:spcPts val="1200"/>
              </a:spcBef>
            </a:pPr>
            <a:r>
              <a:rPr dirty="0" sz="1200" spc="90">
                <a:latin typeface="Cambria"/>
                <a:cs typeface="Cambria"/>
              </a:rPr>
              <a:t>A </a:t>
            </a:r>
            <a:r>
              <a:rPr dirty="0" sz="1200" spc="70">
                <a:latin typeface="Cambria"/>
                <a:cs typeface="Cambria"/>
              </a:rPr>
              <a:t>mode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reproduction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reproduction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takes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place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from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vegetative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parts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like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25">
                <a:latin typeface="Cambria"/>
                <a:cs typeface="Cambria"/>
              </a:rPr>
              <a:t>the </a:t>
            </a:r>
            <a:r>
              <a:rPr dirty="0" sz="1200" spc="50">
                <a:latin typeface="Cambria"/>
                <a:cs typeface="Cambria"/>
              </a:rPr>
              <a:t>stem,</a:t>
            </a:r>
            <a:r>
              <a:rPr dirty="0" sz="1200" spc="16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root,</a:t>
            </a:r>
            <a:r>
              <a:rPr dirty="0" sz="1200" spc="1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leaves.</a:t>
            </a:r>
            <a:endParaRPr sz="1200">
              <a:latin typeface="Cambria"/>
              <a:cs typeface="Cambria"/>
            </a:endParaRPr>
          </a:p>
          <a:p>
            <a:pPr marL="12700" marR="4004945">
              <a:lnSpc>
                <a:spcPct val="229199"/>
              </a:lnSpc>
            </a:pPr>
            <a:r>
              <a:rPr dirty="0" sz="1200" spc="55" b="1">
                <a:latin typeface="Cambria"/>
                <a:cs typeface="Cambria"/>
              </a:rPr>
              <a:t>Methods </a:t>
            </a:r>
            <a:r>
              <a:rPr dirty="0" sz="1200" spc="65" b="1">
                <a:latin typeface="Cambria"/>
                <a:cs typeface="Cambria"/>
              </a:rPr>
              <a:t>of</a:t>
            </a:r>
            <a:r>
              <a:rPr dirty="0" sz="1200" spc="60" b="1">
                <a:latin typeface="Cambria"/>
                <a:cs typeface="Cambria"/>
              </a:rPr>
              <a:t> </a:t>
            </a:r>
            <a:r>
              <a:rPr dirty="0" sz="1200" spc="50" b="1">
                <a:latin typeface="Cambria"/>
                <a:cs typeface="Cambria"/>
              </a:rPr>
              <a:t>Vegetative</a:t>
            </a:r>
            <a:r>
              <a:rPr dirty="0" sz="1200" spc="55" b="1">
                <a:latin typeface="Cambria"/>
                <a:cs typeface="Cambria"/>
              </a:rPr>
              <a:t> </a:t>
            </a:r>
            <a:r>
              <a:rPr dirty="0" sz="1200" spc="40" b="1">
                <a:latin typeface="Cambria"/>
                <a:cs typeface="Cambria"/>
              </a:rPr>
              <a:t>Propagation </a:t>
            </a:r>
            <a:r>
              <a:rPr dirty="0" sz="1200" spc="60" b="1">
                <a:latin typeface="Cambria"/>
                <a:cs typeface="Cambria"/>
              </a:rPr>
              <a:t>Natural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Cambria"/>
              <a:cs typeface="Cambria"/>
            </a:endParaRPr>
          </a:p>
          <a:p>
            <a:pPr marL="182245" indent="-169545">
              <a:lnSpc>
                <a:spcPct val="100000"/>
              </a:lnSpc>
              <a:buFont typeface="Cambria"/>
              <a:buAutoNum type="arabicPeriod"/>
              <a:tabLst>
                <a:tab pos="182245" algn="l"/>
              </a:tabLst>
            </a:pPr>
            <a:r>
              <a:rPr dirty="0" sz="1200" b="1">
                <a:latin typeface="Cambria"/>
                <a:cs typeface="Cambria"/>
              </a:rPr>
              <a:t>By</a:t>
            </a:r>
            <a:r>
              <a:rPr dirty="0" sz="1200" spc="120" b="1">
                <a:latin typeface="Cambria"/>
                <a:cs typeface="Cambria"/>
              </a:rPr>
              <a:t> </a:t>
            </a:r>
            <a:r>
              <a:rPr dirty="0" sz="1200" b="1">
                <a:latin typeface="Cambria"/>
                <a:cs typeface="Cambria"/>
              </a:rPr>
              <a:t>Roots</a:t>
            </a:r>
            <a:r>
              <a:rPr dirty="0" sz="1200" spc="125" b="1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:</a:t>
            </a:r>
            <a:r>
              <a:rPr dirty="0" sz="1200" spc="12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E.g.</a:t>
            </a:r>
            <a:r>
              <a:rPr dirty="0" sz="1200" spc="12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adventitious</a:t>
            </a:r>
            <a:r>
              <a:rPr dirty="0" sz="1200" spc="12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roots</a:t>
            </a:r>
            <a:r>
              <a:rPr dirty="0" sz="1200" spc="12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12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Dahlias</a:t>
            </a:r>
            <a:endParaRPr sz="1200">
              <a:latin typeface="Cambria"/>
              <a:cs typeface="Cambria"/>
            </a:endParaRPr>
          </a:p>
          <a:p>
            <a:pPr marL="179705" indent="-167005">
              <a:lnSpc>
                <a:spcPct val="100000"/>
              </a:lnSpc>
              <a:spcBef>
                <a:spcPts val="660"/>
              </a:spcBef>
              <a:buFont typeface="Cambria"/>
              <a:buAutoNum type="arabicPeriod"/>
              <a:tabLst>
                <a:tab pos="179705" algn="l"/>
              </a:tabLst>
            </a:pPr>
            <a:r>
              <a:rPr dirty="0" sz="1200" b="1">
                <a:latin typeface="Cambria"/>
                <a:cs typeface="Cambria"/>
              </a:rPr>
              <a:t>By</a:t>
            </a:r>
            <a:r>
              <a:rPr dirty="0" sz="1200" spc="130" b="1">
                <a:latin typeface="Cambria"/>
                <a:cs typeface="Cambria"/>
              </a:rPr>
              <a:t> </a:t>
            </a:r>
            <a:r>
              <a:rPr dirty="0" sz="1200" spc="60" b="1">
                <a:latin typeface="Cambria"/>
                <a:cs typeface="Cambria"/>
              </a:rPr>
              <a:t>Stems</a:t>
            </a:r>
            <a:r>
              <a:rPr dirty="0" sz="1200" spc="130" b="1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:</a:t>
            </a:r>
            <a:r>
              <a:rPr dirty="0" sz="1200" spc="13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E.g.</a:t>
            </a:r>
            <a:r>
              <a:rPr dirty="0" sz="1200" spc="13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Potato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(tuber),</a:t>
            </a:r>
            <a:r>
              <a:rPr dirty="0" sz="1200" spc="13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ginger</a:t>
            </a:r>
            <a:r>
              <a:rPr dirty="0" sz="1200" spc="13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(rhizome)</a:t>
            </a:r>
            <a:endParaRPr sz="1200">
              <a:latin typeface="Cambria"/>
              <a:cs typeface="Cambria"/>
            </a:endParaRPr>
          </a:p>
          <a:p>
            <a:pPr marL="12700" marR="444500" indent="167005">
              <a:lnSpc>
                <a:spcPct val="145800"/>
              </a:lnSpc>
              <a:buFont typeface="Cambria"/>
              <a:buAutoNum type="arabicPeriod"/>
              <a:tabLst>
                <a:tab pos="179705" algn="l"/>
              </a:tabLst>
            </a:pPr>
            <a:r>
              <a:rPr dirty="0" sz="1200" b="1">
                <a:latin typeface="Cambria"/>
                <a:cs typeface="Cambria"/>
              </a:rPr>
              <a:t>By</a:t>
            </a:r>
            <a:r>
              <a:rPr dirty="0" sz="1200" spc="70" b="1">
                <a:latin typeface="Cambria"/>
                <a:cs typeface="Cambria"/>
              </a:rPr>
              <a:t> </a:t>
            </a:r>
            <a:r>
              <a:rPr dirty="0" sz="1200" spc="60" b="1">
                <a:latin typeface="Cambria"/>
                <a:cs typeface="Cambria"/>
              </a:rPr>
              <a:t>Leaves</a:t>
            </a:r>
            <a:r>
              <a:rPr dirty="0" sz="1200" spc="70" b="1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:E.g.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leaves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bryophyllum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bear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adventitious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buds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(in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notches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leaf </a:t>
            </a:r>
            <a:r>
              <a:rPr dirty="0" sz="1200" spc="55">
                <a:latin typeface="Cambria"/>
                <a:cs typeface="Cambria"/>
              </a:rPr>
              <a:t>margin)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develop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into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new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plants.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 i="1">
                <a:latin typeface="Georgia"/>
                <a:cs typeface="Georgia"/>
              </a:rPr>
              <a:t>Artificial</a:t>
            </a:r>
            <a:endParaRPr sz="1200">
              <a:latin typeface="Georgia"/>
              <a:cs typeface="Georgia"/>
            </a:endParaRPr>
          </a:p>
          <a:p>
            <a:pPr marL="182245" indent="-169545">
              <a:lnSpc>
                <a:spcPct val="100000"/>
              </a:lnSpc>
              <a:spcBef>
                <a:spcPts val="660"/>
              </a:spcBef>
              <a:buFont typeface="Cambria"/>
              <a:buAutoNum type="arabicPeriod"/>
              <a:tabLst>
                <a:tab pos="182245" algn="l"/>
              </a:tabLst>
            </a:pPr>
            <a:r>
              <a:rPr dirty="0" sz="1200" spc="70" b="1">
                <a:latin typeface="Cambria"/>
                <a:cs typeface="Cambria"/>
              </a:rPr>
              <a:t>Grafting</a:t>
            </a:r>
            <a:r>
              <a:rPr dirty="0" sz="1200" spc="65" b="1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:</a:t>
            </a:r>
            <a:r>
              <a:rPr dirty="0" sz="1200" spc="65">
                <a:latin typeface="Cambria"/>
                <a:cs typeface="Cambria"/>
              </a:rPr>
              <a:t> E.g.</a:t>
            </a:r>
            <a:r>
              <a:rPr dirty="0" sz="1200" spc="70">
                <a:latin typeface="Cambria"/>
                <a:cs typeface="Cambria"/>
              </a:rPr>
              <a:t> Mango.</a:t>
            </a:r>
            <a:endParaRPr sz="1200">
              <a:latin typeface="Cambria"/>
              <a:cs typeface="Cambria"/>
            </a:endParaRPr>
          </a:p>
          <a:p>
            <a:pPr marL="179705" indent="-167005">
              <a:lnSpc>
                <a:spcPct val="100000"/>
              </a:lnSpc>
              <a:spcBef>
                <a:spcPts val="660"/>
              </a:spcBef>
              <a:buFont typeface="Cambria"/>
              <a:buAutoNum type="arabicPeriod"/>
              <a:tabLst>
                <a:tab pos="179705" algn="l"/>
              </a:tabLst>
            </a:pPr>
            <a:r>
              <a:rPr dirty="0" sz="1200" spc="60" b="1">
                <a:latin typeface="Cambria"/>
                <a:cs typeface="Cambria"/>
              </a:rPr>
              <a:t>Cutting </a:t>
            </a:r>
            <a:r>
              <a:rPr dirty="0" sz="1200">
                <a:latin typeface="Cambria"/>
                <a:cs typeface="Cambria"/>
              </a:rPr>
              <a:t>:</a:t>
            </a:r>
            <a:r>
              <a:rPr dirty="0" sz="1200" spc="65">
                <a:latin typeface="Cambria"/>
                <a:cs typeface="Cambria"/>
              </a:rPr>
              <a:t> E.g. </a:t>
            </a:r>
            <a:r>
              <a:rPr dirty="0" sz="1200" spc="-20">
                <a:latin typeface="Cambria"/>
                <a:cs typeface="Cambria"/>
              </a:rPr>
              <a:t>Rose</a:t>
            </a:r>
            <a:endParaRPr sz="1200">
              <a:latin typeface="Cambria"/>
              <a:cs typeface="Cambria"/>
            </a:endParaRPr>
          </a:p>
          <a:p>
            <a:pPr marL="179705" indent="-167005">
              <a:lnSpc>
                <a:spcPct val="100000"/>
              </a:lnSpc>
              <a:spcBef>
                <a:spcPts val="660"/>
              </a:spcBef>
              <a:buFont typeface="Cambria"/>
              <a:buAutoNum type="arabicPeriod"/>
              <a:tabLst>
                <a:tab pos="179705" algn="l"/>
              </a:tabLst>
            </a:pPr>
            <a:r>
              <a:rPr dirty="0" sz="1200" spc="60" b="1">
                <a:latin typeface="Cambria"/>
                <a:cs typeface="Cambria"/>
              </a:rPr>
              <a:t>Layering</a:t>
            </a:r>
            <a:r>
              <a:rPr dirty="0" sz="1200" spc="65" b="1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: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E.g.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Jasmine</a:t>
            </a:r>
            <a:endParaRPr sz="1200">
              <a:latin typeface="Cambria"/>
              <a:cs typeface="Cambria"/>
            </a:endParaRPr>
          </a:p>
          <a:p>
            <a:pPr marL="179705" indent="-167005">
              <a:lnSpc>
                <a:spcPct val="100000"/>
              </a:lnSpc>
              <a:spcBef>
                <a:spcPts val="660"/>
              </a:spcBef>
              <a:buFont typeface="Cambria"/>
              <a:buAutoNum type="arabicPeriod"/>
              <a:tabLst>
                <a:tab pos="179705" algn="l"/>
              </a:tabLst>
            </a:pPr>
            <a:r>
              <a:rPr dirty="0" sz="1200" b="1">
                <a:latin typeface="Cambria"/>
                <a:cs typeface="Cambria"/>
              </a:rPr>
              <a:t>Tissue</a:t>
            </a:r>
            <a:r>
              <a:rPr dirty="0" sz="1200" spc="100" b="1">
                <a:latin typeface="Cambria"/>
                <a:cs typeface="Cambria"/>
              </a:rPr>
              <a:t> </a:t>
            </a:r>
            <a:r>
              <a:rPr dirty="0" sz="1200" spc="60" b="1">
                <a:latin typeface="Cambria"/>
                <a:cs typeface="Cambria"/>
              </a:rPr>
              <a:t>adture</a:t>
            </a:r>
            <a:r>
              <a:rPr dirty="0" sz="1200" spc="100" b="1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: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E.g.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Orchids,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Ornamental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Plants.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200" spc="45" b="1">
                <a:latin typeface="Cambria"/>
                <a:cs typeface="Cambria"/>
              </a:rPr>
              <a:t>Benefits</a:t>
            </a:r>
            <a:r>
              <a:rPr dirty="0" sz="1200" spc="50" b="1">
                <a:latin typeface="Cambria"/>
                <a:cs typeface="Cambria"/>
              </a:rPr>
              <a:t> </a:t>
            </a:r>
            <a:r>
              <a:rPr dirty="0" sz="1200" spc="65" b="1">
                <a:latin typeface="Cambria"/>
                <a:cs typeface="Cambria"/>
              </a:rPr>
              <a:t>of</a:t>
            </a:r>
            <a:r>
              <a:rPr dirty="0" sz="1200" spc="55" b="1">
                <a:latin typeface="Cambria"/>
                <a:cs typeface="Cambria"/>
              </a:rPr>
              <a:t> </a:t>
            </a:r>
            <a:r>
              <a:rPr dirty="0" sz="1200" spc="50" b="1">
                <a:latin typeface="Cambria"/>
                <a:cs typeface="Cambria"/>
              </a:rPr>
              <a:t>Vegetative</a:t>
            </a:r>
            <a:r>
              <a:rPr dirty="0" sz="1200" spc="55" b="1">
                <a:latin typeface="Cambria"/>
                <a:cs typeface="Cambria"/>
              </a:rPr>
              <a:t> </a:t>
            </a:r>
            <a:r>
              <a:rPr dirty="0" sz="1200" spc="40" b="1">
                <a:latin typeface="Cambria"/>
                <a:cs typeface="Cambria"/>
              </a:rPr>
              <a:t>Propagation</a:t>
            </a:r>
            <a:endParaRPr sz="1200">
              <a:latin typeface="Cambria"/>
              <a:cs typeface="Cambria"/>
            </a:endParaRPr>
          </a:p>
          <a:p>
            <a:pPr marL="179705" indent="-167005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179705" algn="l"/>
              </a:tabLst>
            </a:pPr>
            <a:r>
              <a:rPr dirty="0" sz="1200">
                <a:latin typeface="Cambria"/>
                <a:cs typeface="Cambria"/>
              </a:rPr>
              <a:t>Plants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can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bear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flowers,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fruits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earlier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than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those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produced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from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seeds.</a:t>
            </a:r>
            <a:endParaRPr sz="1200">
              <a:latin typeface="Cambria"/>
              <a:cs typeface="Cambria"/>
            </a:endParaRPr>
          </a:p>
          <a:p>
            <a:pPr marL="12700" marR="144145" indent="167005">
              <a:lnSpc>
                <a:spcPct val="145800"/>
              </a:lnSpc>
              <a:buAutoNum type="arabicPeriod"/>
              <a:tabLst>
                <a:tab pos="179705" algn="l"/>
              </a:tabLst>
            </a:pPr>
            <a:r>
              <a:rPr dirty="0" sz="1200" spc="70">
                <a:latin typeface="Cambria"/>
                <a:cs typeface="Cambria"/>
              </a:rPr>
              <a:t>Growing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plants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like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Banana,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orange,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rose,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jasmine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that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have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lost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capacity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produce </a:t>
            </a:r>
            <a:r>
              <a:rPr dirty="0" sz="1200" spc="40">
                <a:latin typeface="Cambria"/>
                <a:cs typeface="Cambria"/>
              </a:rPr>
              <a:t>seeds.</a:t>
            </a:r>
            <a:endParaRPr sz="1200">
              <a:latin typeface="Cambria"/>
              <a:cs typeface="Cambria"/>
            </a:endParaRPr>
          </a:p>
          <a:p>
            <a:pPr marL="179705" indent="-167005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179705" algn="l"/>
              </a:tabLst>
            </a:pPr>
            <a:r>
              <a:rPr dirty="0" sz="1200" spc="60">
                <a:latin typeface="Cambria"/>
                <a:cs typeface="Cambria"/>
              </a:rPr>
              <a:t>Genetical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similarity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65">
                <a:latin typeface="Cambria"/>
                <a:cs typeface="Cambria"/>
              </a:rPr>
              <a:t> maintained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plants.</a:t>
            </a:r>
            <a:endParaRPr sz="1200">
              <a:latin typeface="Cambria"/>
              <a:cs typeface="Cambria"/>
            </a:endParaRPr>
          </a:p>
          <a:p>
            <a:pPr marL="179705" indent="-167005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179705" algn="l"/>
              </a:tabLst>
            </a:pPr>
            <a:r>
              <a:rPr dirty="0" sz="1200" spc="60">
                <a:latin typeface="Cambria"/>
                <a:cs typeface="Cambria"/>
              </a:rPr>
              <a:t>Helps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114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growing</a:t>
            </a:r>
            <a:r>
              <a:rPr dirty="0" sz="1200" spc="114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seedless</a:t>
            </a:r>
            <a:r>
              <a:rPr dirty="0" sz="1200" spc="114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fruits.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595" y="203456"/>
            <a:ext cx="1418676" cy="42903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10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2068309" y="10070131"/>
            <a:ext cx="2965450" cy="1733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20" b="1">
                <a:latin typeface="Cambria"/>
                <a:cs typeface="Cambria"/>
              </a:rPr>
              <a:t>Material</a:t>
            </a:r>
            <a:r>
              <a:rPr dirty="0" sz="1000" spc="220" b="1">
                <a:latin typeface="Cambria"/>
                <a:cs typeface="Cambria"/>
              </a:rPr>
              <a:t> </a:t>
            </a:r>
            <a:r>
              <a:rPr dirty="0" sz="1000" spc="20" b="1">
                <a:latin typeface="Cambria"/>
                <a:cs typeface="Cambria"/>
              </a:rPr>
              <a:t>downloaded</a:t>
            </a:r>
            <a:r>
              <a:rPr dirty="0" sz="1000" spc="240" b="1">
                <a:latin typeface="Cambria"/>
                <a:cs typeface="Cambria"/>
              </a:rPr>
              <a:t> </a:t>
            </a:r>
            <a:r>
              <a:rPr dirty="0" sz="1000" spc="60" b="1">
                <a:latin typeface="Cambria"/>
                <a:cs typeface="Cambria"/>
              </a:rPr>
              <a:t>from</a:t>
            </a:r>
            <a:r>
              <a:rPr dirty="0" sz="1000" spc="204" b="1">
                <a:latin typeface="Cambria"/>
                <a:cs typeface="Cambria"/>
              </a:rPr>
              <a:t> </a:t>
            </a:r>
            <a:r>
              <a:rPr dirty="0" u="sng" sz="1000" spc="-10" b="1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Arial"/>
                <a:cs typeface="Arial"/>
                <a:hlinkClick r:id="rId4"/>
              </a:rPr>
              <a:t>www.vidyakul.com</a:t>
            </a:r>
            <a:r>
              <a:rPr dirty="0" sz="1000" spc="-10" b="1">
                <a:latin typeface="Cambria"/>
                <a:cs typeface="Cambria"/>
                <a:hlinkClick r:id="rId4"/>
              </a:rPr>
              <a:t>.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93700" y="4368800"/>
          <a:ext cx="6845300" cy="1358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56000"/>
                <a:gridCol w="3200400"/>
              </a:tblGrid>
              <a:tr h="279400">
                <a:tc gridSpan="2"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75" b="1">
                          <a:latin typeface="Cambria"/>
                          <a:cs typeface="Cambria"/>
                        </a:rPr>
                        <a:t>FLOWERS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7950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55">
                          <a:latin typeface="Cambria"/>
                          <a:cs typeface="Cambria"/>
                        </a:rPr>
                        <a:t>Bisexual</a:t>
                      </a:r>
                      <a:r>
                        <a:rPr dirty="0" sz="12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40">
                          <a:latin typeface="Cambria"/>
                          <a:cs typeface="Cambria"/>
                        </a:rPr>
                        <a:t>Flowers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69850" marR="794385">
                        <a:lnSpc>
                          <a:spcPct val="145800"/>
                        </a:lnSpc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Both</a:t>
                      </a:r>
                      <a:r>
                        <a:rPr dirty="0" sz="12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70">
                          <a:latin typeface="Cambria"/>
                          <a:cs typeface="Cambria"/>
                        </a:rPr>
                        <a:t>male</a:t>
                      </a:r>
                      <a:r>
                        <a:rPr dirty="0" sz="12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75"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2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70">
                          <a:latin typeface="Cambria"/>
                          <a:cs typeface="Cambria"/>
                        </a:rPr>
                        <a:t>female</a:t>
                      </a:r>
                      <a:r>
                        <a:rPr dirty="0" sz="1200" spc="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45">
                          <a:latin typeface="Cambria"/>
                          <a:cs typeface="Cambria"/>
                        </a:rPr>
                        <a:t>reproductive 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part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i.e.,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stamen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&amp;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carpel are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40">
                          <a:latin typeface="Cambria"/>
                          <a:cs typeface="Cambria"/>
                        </a:rPr>
                        <a:t>present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55">
                          <a:latin typeface="Cambria"/>
                          <a:cs typeface="Cambria"/>
                        </a:rPr>
                        <a:t>&amp;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carpel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are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present.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Eg.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Hibiscus, mustard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60">
                          <a:latin typeface="Cambria"/>
                          <a:cs typeface="Cambria"/>
                        </a:rPr>
                        <a:t>Multiple</a:t>
                      </a:r>
                      <a:r>
                        <a:rPr dirty="0" sz="1200" spc="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Fission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69850" marR="694055">
                        <a:lnSpc>
                          <a:spcPct val="145800"/>
                        </a:lnSpc>
                      </a:pPr>
                      <a:r>
                        <a:rPr dirty="0" sz="1200" spc="50"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2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parent</a:t>
                      </a:r>
                      <a:r>
                        <a:rPr dirty="0" sz="12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cell</a:t>
                      </a:r>
                      <a:r>
                        <a:rPr dirty="0" sz="12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divides</a:t>
                      </a:r>
                      <a:r>
                        <a:rPr dirty="0" sz="12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into</a:t>
                      </a:r>
                      <a:r>
                        <a:rPr dirty="0" sz="12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70">
                          <a:latin typeface="Cambria"/>
                          <a:cs typeface="Cambria"/>
                        </a:rPr>
                        <a:t>many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daughter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cell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simultaneously.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60">
                          <a:latin typeface="Cambria"/>
                          <a:cs typeface="Cambria"/>
                        </a:rPr>
                        <a:t>Eg.</a:t>
                      </a:r>
                      <a:r>
                        <a:rPr dirty="0" sz="1200" spc="55">
                          <a:latin typeface="Cambria"/>
                          <a:cs typeface="Cambria"/>
                        </a:rPr>
                        <a:t> Plasmodium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grpSp>
        <p:nvGrpSpPr>
          <p:cNvPr id="3" name="object 3" descr=""/>
          <p:cNvGrpSpPr/>
          <p:nvPr/>
        </p:nvGrpSpPr>
        <p:grpSpPr>
          <a:xfrm>
            <a:off x="704850" y="2571750"/>
            <a:ext cx="63500" cy="63500"/>
            <a:chOff x="704850" y="2571750"/>
            <a:chExt cx="63500" cy="63500"/>
          </a:xfrm>
        </p:grpSpPr>
        <p:sp>
          <p:nvSpPr>
            <p:cNvPr id="4" name="object 4" descr=""/>
            <p:cNvSpPr/>
            <p:nvPr/>
          </p:nvSpPr>
          <p:spPr>
            <a:xfrm>
              <a:off x="711200" y="25781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11200" y="25781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704850" y="2838450"/>
            <a:ext cx="63500" cy="63500"/>
            <a:chOff x="704850" y="2838450"/>
            <a:chExt cx="63500" cy="63500"/>
          </a:xfrm>
        </p:grpSpPr>
        <p:sp>
          <p:nvSpPr>
            <p:cNvPr id="7" name="object 7" descr=""/>
            <p:cNvSpPr/>
            <p:nvPr/>
          </p:nvSpPr>
          <p:spPr>
            <a:xfrm>
              <a:off x="711200" y="2844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11200" y="2844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81000" y="965200"/>
            <a:ext cx="6791959" cy="3218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"/>
                <a:cs typeface="Cambria"/>
              </a:rPr>
              <a:t>5.</a:t>
            </a:r>
            <a:r>
              <a:rPr dirty="0" sz="1200" spc="65">
                <a:latin typeface="Cambria"/>
                <a:cs typeface="Cambria"/>
              </a:rPr>
              <a:t> Cheaper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easier</a:t>
            </a:r>
            <a:r>
              <a:rPr dirty="0" sz="1200" spc="65">
                <a:latin typeface="Cambria"/>
                <a:cs typeface="Cambria"/>
              </a:rPr>
              <a:t> method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growing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plants.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200" spc="75" b="1">
                <a:latin typeface="Cambria"/>
                <a:cs typeface="Cambria"/>
              </a:rPr>
              <a:t>Sexual</a:t>
            </a:r>
            <a:r>
              <a:rPr dirty="0" sz="1200" spc="60" b="1">
                <a:latin typeface="Cambria"/>
                <a:cs typeface="Cambria"/>
              </a:rPr>
              <a:t> </a:t>
            </a:r>
            <a:r>
              <a:rPr dirty="0" sz="1200" spc="40" b="1">
                <a:latin typeface="Cambria"/>
                <a:cs typeface="Cambria"/>
              </a:rPr>
              <a:t>Reproduction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45800"/>
              </a:lnSpc>
              <a:spcBef>
                <a:spcPts val="1200"/>
              </a:spcBef>
            </a:pPr>
            <a:r>
              <a:rPr dirty="0" sz="1200" spc="95">
                <a:latin typeface="Cambria"/>
                <a:cs typeface="Cambria"/>
              </a:rPr>
              <a:t>When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reproduction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takes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place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as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result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fusion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two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gamets,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one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from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each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parent,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is </a:t>
            </a:r>
            <a:r>
              <a:rPr dirty="0" sz="1200" spc="55">
                <a:latin typeface="Cambria"/>
                <a:cs typeface="Cambria"/>
              </a:rPr>
              <a:t>called </a:t>
            </a:r>
            <a:r>
              <a:rPr dirty="0" sz="1200" spc="65">
                <a:latin typeface="Cambria"/>
                <a:cs typeface="Cambria"/>
              </a:rPr>
              <a:t>sexual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reproduction.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mbria"/>
              <a:cs typeface="Cambria"/>
            </a:endParaRPr>
          </a:p>
          <a:p>
            <a:pPr marL="520700">
              <a:lnSpc>
                <a:spcPct val="100000"/>
              </a:lnSpc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process</a:t>
            </a:r>
            <a:r>
              <a:rPr dirty="0" sz="1200" spc="60">
                <a:latin typeface="Cambria"/>
                <a:cs typeface="Cambria"/>
              </a:rPr>
              <a:t> of fusion of </a:t>
            </a:r>
            <a:r>
              <a:rPr dirty="0" sz="1200" spc="70">
                <a:latin typeface="Cambria"/>
                <a:cs typeface="Cambria"/>
              </a:rPr>
              <a:t>male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female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gametes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called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fertilization.</a:t>
            </a:r>
            <a:endParaRPr sz="1200">
              <a:latin typeface="Cambria"/>
              <a:cs typeface="Cambria"/>
            </a:endParaRPr>
          </a:p>
          <a:p>
            <a:pPr marL="520700" marR="309880">
              <a:lnSpc>
                <a:spcPct val="145800"/>
              </a:lnSpc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0">
                <a:latin typeface="Cambria"/>
                <a:cs typeface="Cambria"/>
              </a:rPr>
              <a:t> formation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 </a:t>
            </a:r>
            <a:r>
              <a:rPr dirty="0" sz="1200" spc="55">
                <a:latin typeface="Cambria"/>
                <a:cs typeface="Cambria"/>
              </a:rPr>
              <a:t>gamets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involves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exchange</a:t>
            </a:r>
            <a:r>
              <a:rPr dirty="0" sz="1200" spc="60">
                <a:latin typeface="Cambria"/>
                <a:cs typeface="Cambria"/>
              </a:rPr>
              <a:t> of</a:t>
            </a:r>
            <a:r>
              <a:rPr dirty="0" sz="1200" spc="65">
                <a:latin typeface="Cambria"/>
                <a:cs typeface="Cambria"/>
              </a:rPr>
              <a:t> chromosomal </a:t>
            </a:r>
            <a:r>
              <a:rPr dirty="0" sz="1200" spc="35">
                <a:latin typeface="Cambria"/>
                <a:cs typeface="Cambria"/>
              </a:rPr>
              <a:t>(genetic)fragments </a:t>
            </a:r>
            <a:r>
              <a:rPr dirty="0" sz="1200" spc="60">
                <a:latin typeface="Cambria"/>
                <a:cs typeface="Cambria"/>
              </a:rPr>
              <a:t>between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homologous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chromosomes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causing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genetic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recombination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leads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to </a:t>
            </a:r>
            <a:r>
              <a:rPr dirty="0" sz="1200" spc="50">
                <a:latin typeface="Cambria"/>
                <a:cs typeface="Cambria"/>
              </a:rPr>
              <a:t>variation.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200" spc="75" b="1">
                <a:latin typeface="Cambria"/>
                <a:cs typeface="Cambria"/>
              </a:rPr>
              <a:t>Sexual</a:t>
            </a:r>
            <a:r>
              <a:rPr dirty="0" sz="1200" spc="65" b="1">
                <a:latin typeface="Cambria"/>
                <a:cs typeface="Cambria"/>
              </a:rPr>
              <a:t> </a:t>
            </a:r>
            <a:r>
              <a:rPr dirty="0" sz="1200" spc="50" b="1">
                <a:latin typeface="Cambria"/>
                <a:cs typeface="Cambria"/>
              </a:rPr>
              <a:t>Reproduction</a:t>
            </a:r>
            <a:r>
              <a:rPr dirty="0" sz="1200" spc="65" b="1">
                <a:latin typeface="Cambria"/>
                <a:cs typeface="Cambria"/>
              </a:rPr>
              <a:t> </a:t>
            </a:r>
            <a:r>
              <a:rPr dirty="0" sz="1200" spc="55" b="1">
                <a:latin typeface="Cambria"/>
                <a:cs typeface="Cambria"/>
              </a:rPr>
              <a:t>in</a:t>
            </a:r>
            <a:r>
              <a:rPr dirty="0" sz="1200" spc="65" b="1">
                <a:latin typeface="Cambria"/>
                <a:cs typeface="Cambria"/>
              </a:rPr>
              <a:t> </a:t>
            </a:r>
            <a:r>
              <a:rPr dirty="0" sz="1200" spc="-10" b="1">
                <a:latin typeface="Cambria"/>
                <a:cs typeface="Cambria"/>
              </a:rPr>
              <a:t>Plants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occurs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mostly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 </a:t>
            </a:r>
            <a:r>
              <a:rPr dirty="0" sz="1200" spc="60">
                <a:latin typeface="Cambria"/>
                <a:cs typeface="Cambria"/>
              </a:rPr>
              <a:t>flowering </a:t>
            </a:r>
            <a:r>
              <a:rPr dirty="0" sz="1200" spc="55">
                <a:latin typeface="Cambria"/>
                <a:cs typeface="Cambria"/>
              </a:rPr>
              <a:t>plants.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In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fact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flowers</a:t>
            </a:r>
            <a:r>
              <a:rPr dirty="0" sz="1200" spc="60">
                <a:latin typeface="Cambria"/>
                <a:cs typeface="Cambria"/>
              </a:rPr>
              <a:t> are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reproductive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organ</a:t>
            </a:r>
            <a:r>
              <a:rPr dirty="0" sz="1200" spc="60">
                <a:latin typeface="Cambria"/>
                <a:cs typeface="Cambria"/>
              </a:rPr>
              <a:t> of </a:t>
            </a:r>
            <a:r>
              <a:rPr dirty="0" sz="1200" spc="45">
                <a:latin typeface="Cambria"/>
                <a:cs typeface="Cambria"/>
              </a:rPr>
              <a:t>plants.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5892800"/>
            <a:ext cx="4156467" cy="254000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81000" y="8526780"/>
            <a:ext cx="608330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100"/>
              </a:spcBef>
            </a:pPr>
            <a:r>
              <a:rPr dirty="0" sz="1200" spc="90">
                <a:latin typeface="Cambria"/>
                <a:cs typeface="Cambria"/>
              </a:rPr>
              <a:t>A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typical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flower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consists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four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main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whorls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namely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calyx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(sepals),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Corolla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(Petals), </a:t>
            </a:r>
            <a:r>
              <a:rPr dirty="0" sz="1200" spc="70">
                <a:latin typeface="Cambria"/>
                <a:cs typeface="Cambria"/>
              </a:rPr>
              <a:t>Androecium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(Stamens)</a:t>
            </a:r>
            <a:r>
              <a:rPr dirty="0" sz="1200" spc="114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114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Gynoecium</a:t>
            </a:r>
            <a:r>
              <a:rPr dirty="0" sz="1200" spc="114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(Carpels).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575" y="206238"/>
            <a:ext cx="1418676" cy="429030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10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068309" y="10070131"/>
            <a:ext cx="2965450" cy="1733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20" b="1">
                <a:latin typeface="Cambria"/>
                <a:cs typeface="Cambria"/>
              </a:rPr>
              <a:t>Material</a:t>
            </a:r>
            <a:r>
              <a:rPr dirty="0" sz="1000" spc="220" b="1">
                <a:latin typeface="Cambria"/>
                <a:cs typeface="Cambria"/>
              </a:rPr>
              <a:t> </a:t>
            </a:r>
            <a:r>
              <a:rPr dirty="0" sz="1000" spc="20" b="1">
                <a:latin typeface="Cambria"/>
                <a:cs typeface="Cambria"/>
              </a:rPr>
              <a:t>downloaded</a:t>
            </a:r>
            <a:r>
              <a:rPr dirty="0" sz="1000" spc="240" b="1">
                <a:latin typeface="Cambria"/>
                <a:cs typeface="Cambria"/>
              </a:rPr>
              <a:t> </a:t>
            </a:r>
            <a:r>
              <a:rPr dirty="0" sz="1000" spc="60" b="1">
                <a:latin typeface="Cambria"/>
                <a:cs typeface="Cambria"/>
              </a:rPr>
              <a:t>from</a:t>
            </a:r>
            <a:r>
              <a:rPr dirty="0" sz="1000" spc="204" b="1">
                <a:latin typeface="Cambria"/>
                <a:cs typeface="Cambria"/>
              </a:rPr>
              <a:t> </a:t>
            </a:r>
            <a:r>
              <a:rPr dirty="0" u="sng" sz="1000" spc="-10" b="1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Arial"/>
                <a:cs typeface="Arial"/>
                <a:hlinkClick r:id="rId4"/>
              </a:rPr>
              <a:t>www.vidyakul.com</a:t>
            </a:r>
            <a:r>
              <a:rPr dirty="0" sz="1000" spc="-10" b="1">
                <a:latin typeface="Cambria"/>
                <a:cs typeface="Cambria"/>
                <a:hlinkClick r:id="rId4"/>
              </a:rPr>
              <a:t>.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561" y="1033669"/>
            <a:ext cx="4505348" cy="206513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704850" y="3359150"/>
            <a:ext cx="63500" cy="63500"/>
            <a:chOff x="704850" y="3359150"/>
            <a:chExt cx="63500" cy="63500"/>
          </a:xfrm>
        </p:grpSpPr>
        <p:sp>
          <p:nvSpPr>
            <p:cNvPr id="4" name="object 4" descr=""/>
            <p:cNvSpPr/>
            <p:nvPr/>
          </p:nvSpPr>
          <p:spPr>
            <a:xfrm>
              <a:off x="711200" y="33655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11200" y="33655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89000" y="3192779"/>
            <a:ext cx="6254115" cy="215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100"/>
              </a:spcBef>
            </a:pPr>
            <a:r>
              <a:rPr dirty="0" sz="1200" spc="50">
                <a:latin typeface="Cambria"/>
                <a:cs typeface="Cambria"/>
              </a:rPr>
              <a:t>Pollen</a:t>
            </a:r>
            <a:r>
              <a:rPr dirty="0" sz="1200" spc="55">
                <a:latin typeface="Cambria"/>
                <a:cs typeface="Cambria"/>
              </a:rPr>
              <a:t> grains</a:t>
            </a:r>
            <a:r>
              <a:rPr dirty="0" sz="1200" spc="60">
                <a:latin typeface="Cambria"/>
                <a:cs typeface="Cambria"/>
              </a:rPr>
              <a:t> of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60">
                <a:latin typeface="Cambria"/>
                <a:cs typeface="Cambria"/>
              </a:rPr>
              <a:t> flower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,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transfer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stigma</a:t>
            </a:r>
            <a:r>
              <a:rPr dirty="0" sz="1200" spc="60">
                <a:latin typeface="Cambria"/>
                <a:cs typeface="Cambria"/>
              </a:rPr>
              <a:t> of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0">
                <a:latin typeface="Cambria"/>
                <a:cs typeface="Cambria"/>
              </a:rPr>
              <a:t> carpel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same</a:t>
            </a:r>
            <a:r>
              <a:rPr dirty="0" sz="1200" spc="60">
                <a:latin typeface="Cambria"/>
                <a:cs typeface="Cambria"/>
              </a:rPr>
              <a:t> flower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10" b="1">
                <a:latin typeface="Cambria"/>
                <a:cs typeface="Cambria"/>
              </a:rPr>
              <a:t>(Self- </a:t>
            </a:r>
            <a:r>
              <a:rPr dirty="0" sz="1200" spc="30" b="1">
                <a:latin typeface="Cambria"/>
                <a:cs typeface="Cambria"/>
              </a:rPr>
              <a:t>Pollination)</a:t>
            </a:r>
            <a:r>
              <a:rPr dirty="0" sz="1200" spc="30">
                <a:latin typeface="Cambria"/>
                <a:cs typeface="Cambria"/>
              </a:rPr>
              <a:t>or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to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stigma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carpel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another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flower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30" b="1">
                <a:latin typeface="Cambria"/>
                <a:cs typeface="Cambria"/>
              </a:rPr>
              <a:t>(Cross-</a:t>
            </a:r>
            <a:r>
              <a:rPr dirty="0" sz="1200" spc="-10" b="1">
                <a:latin typeface="Cambria"/>
                <a:cs typeface="Cambria"/>
              </a:rPr>
              <a:t>Pollination).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200">
                <a:latin typeface="Cambria"/>
                <a:cs typeface="Cambria"/>
              </a:rPr>
              <a:t>This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transfer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pollens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achieved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by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agent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like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wind,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water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or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animals.</a:t>
            </a:r>
            <a:endParaRPr sz="1200">
              <a:latin typeface="Cambria"/>
              <a:cs typeface="Cambria"/>
            </a:endParaRPr>
          </a:p>
          <a:p>
            <a:pPr marL="12700" marR="106680">
              <a:lnSpc>
                <a:spcPct val="145800"/>
              </a:lnSpc>
            </a:pPr>
            <a:r>
              <a:rPr dirty="0" sz="1200" spc="55">
                <a:latin typeface="Cambria"/>
                <a:cs typeface="Cambria"/>
              </a:rPr>
              <a:t>After </a:t>
            </a:r>
            <a:r>
              <a:rPr dirty="0" sz="1200" spc="50">
                <a:latin typeface="Cambria"/>
                <a:cs typeface="Cambria"/>
              </a:rPr>
              <a:t>Pollination,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55">
                <a:latin typeface="Cambria"/>
                <a:cs typeface="Cambria"/>
              </a:rPr>
              <a:t> pollen tube grows </a:t>
            </a:r>
            <a:r>
              <a:rPr dirty="0" sz="1200" spc="50">
                <a:latin typeface="Cambria"/>
                <a:cs typeface="Cambria"/>
              </a:rPr>
              <a:t>out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55">
                <a:latin typeface="Cambria"/>
                <a:cs typeface="Cambria"/>
              </a:rPr>
              <a:t> pollen </a:t>
            </a:r>
            <a:r>
              <a:rPr dirty="0" sz="1200" spc="50">
                <a:latin typeface="Cambria"/>
                <a:cs typeface="Cambria"/>
              </a:rPr>
              <a:t>grains,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through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male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germ cell</a:t>
            </a:r>
            <a:r>
              <a:rPr dirty="0" sz="1200" spc="55">
                <a:latin typeface="Cambria"/>
                <a:cs typeface="Cambria"/>
              </a:rPr>
              <a:t> reaches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ovary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fuses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with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female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germ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cell.</a:t>
            </a:r>
            <a:endParaRPr sz="1200">
              <a:latin typeface="Cambria"/>
              <a:cs typeface="Cambria"/>
            </a:endParaRPr>
          </a:p>
          <a:p>
            <a:pPr marL="12700" marR="216535">
              <a:lnSpc>
                <a:spcPct val="145800"/>
              </a:lnSpc>
            </a:pPr>
            <a:r>
              <a:rPr dirty="0" sz="1200" spc="45">
                <a:latin typeface="Cambria"/>
                <a:cs typeface="Cambria"/>
              </a:rPr>
              <a:t>Fertilization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: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fusion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70">
                <a:latin typeface="Cambria"/>
                <a:cs typeface="Cambria"/>
              </a:rPr>
              <a:t> male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70">
                <a:latin typeface="Cambria"/>
                <a:cs typeface="Cambria"/>
              </a:rPr>
              <a:t> female </a:t>
            </a:r>
            <a:r>
              <a:rPr dirty="0" sz="1200" spc="60">
                <a:latin typeface="Cambria"/>
                <a:cs typeface="Cambria"/>
              </a:rPr>
              <a:t>gamete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called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fertilization.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occurs </a:t>
            </a:r>
            <a:r>
              <a:rPr dirty="0" sz="1200" spc="50">
                <a:latin typeface="Cambria"/>
                <a:cs typeface="Cambria"/>
              </a:rPr>
              <a:t>inside</a:t>
            </a:r>
            <a:r>
              <a:rPr dirty="0" sz="1200" spc="114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114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ovary.</a:t>
            </a:r>
            <a:r>
              <a:rPr dirty="0" sz="1200" spc="12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Zygote</a:t>
            </a:r>
            <a:r>
              <a:rPr dirty="0" sz="1200" spc="114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12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produced</a:t>
            </a:r>
            <a:r>
              <a:rPr dirty="0" sz="1200" spc="114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12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this</a:t>
            </a:r>
            <a:r>
              <a:rPr dirty="0" sz="1200" spc="114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process.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200" spc="50">
                <a:latin typeface="Cambria"/>
                <a:cs typeface="Cambria"/>
              </a:rPr>
              <a:t>OVARY-&gt;OVULE-</a:t>
            </a:r>
            <a:r>
              <a:rPr dirty="0" sz="1200" spc="70">
                <a:latin typeface="Cambria"/>
                <a:cs typeface="Cambria"/>
              </a:rPr>
              <a:t>&gt;EGG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CELL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AND</a:t>
            </a:r>
            <a:r>
              <a:rPr dirty="0" sz="1200" spc="65">
                <a:latin typeface="Cambria"/>
                <a:cs typeface="Cambria"/>
              </a:rPr>
              <a:t> POLAR</a:t>
            </a:r>
            <a:r>
              <a:rPr dirty="0" sz="1200" spc="60">
                <a:latin typeface="Cambria"/>
                <a:cs typeface="Cambria"/>
              </a:rPr>
              <a:t> NUCLEI.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04850" y="3892550"/>
            <a:ext cx="63500" cy="63500"/>
            <a:chOff x="704850" y="3892550"/>
            <a:chExt cx="63500" cy="63500"/>
          </a:xfrm>
        </p:grpSpPr>
        <p:sp>
          <p:nvSpPr>
            <p:cNvPr id="8" name="object 8" descr=""/>
            <p:cNvSpPr/>
            <p:nvPr/>
          </p:nvSpPr>
          <p:spPr>
            <a:xfrm>
              <a:off x="711200" y="38989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11200" y="38989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704850" y="4159250"/>
            <a:ext cx="63500" cy="63500"/>
            <a:chOff x="704850" y="4159250"/>
            <a:chExt cx="63500" cy="63500"/>
          </a:xfrm>
        </p:grpSpPr>
        <p:sp>
          <p:nvSpPr>
            <p:cNvPr id="11" name="object 11" descr=""/>
            <p:cNvSpPr/>
            <p:nvPr/>
          </p:nvSpPr>
          <p:spPr>
            <a:xfrm>
              <a:off x="711200" y="41656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11200" y="41656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704850" y="4692650"/>
            <a:ext cx="63500" cy="63500"/>
            <a:chOff x="704850" y="4692650"/>
            <a:chExt cx="63500" cy="63500"/>
          </a:xfrm>
        </p:grpSpPr>
        <p:sp>
          <p:nvSpPr>
            <p:cNvPr id="14" name="object 14" descr=""/>
            <p:cNvSpPr/>
            <p:nvPr/>
          </p:nvSpPr>
          <p:spPr>
            <a:xfrm>
              <a:off x="711200" y="46990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11200" y="46990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704850" y="5226050"/>
            <a:ext cx="63500" cy="63500"/>
            <a:chOff x="704850" y="5226050"/>
            <a:chExt cx="63500" cy="63500"/>
          </a:xfrm>
        </p:grpSpPr>
        <p:sp>
          <p:nvSpPr>
            <p:cNvPr id="17" name="object 17" descr=""/>
            <p:cNvSpPr/>
            <p:nvPr/>
          </p:nvSpPr>
          <p:spPr>
            <a:xfrm>
              <a:off x="711200" y="52324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11200" y="52324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300" y="5384800"/>
            <a:ext cx="3149600" cy="2692400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704850" y="8185150"/>
            <a:ext cx="63500" cy="63500"/>
            <a:chOff x="704850" y="8185150"/>
            <a:chExt cx="63500" cy="63500"/>
          </a:xfrm>
        </p:grpSpPr>
        <p:sp>
          <p:nvSpPr>
            <p:cNvPr id="21" name="object 21" descr=""/>
            <p:cNvSpPr/>
            <p:nvPr/>
          </p:nvSpPr>
          <p:spPr>
            <a:xfrm>
              <a:off x="711200" y="81915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11200" y="81915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889000" y="8018780"/>
            <a:ext cx="6273165" cy="162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7155">
              <a:lnSpc>
                <a:spcPct val="145800"/>
              </a:lnSpc>
              <a:spcBef>
                <a:spcPts val="100"/>
              </a:spcBef>
            </a:pPr>
            <a:r>
              <a:rPr dirty="0" sz="1200">
                <a:latin typeface="Cambria"/>
                <a:cs typeface="Cambria"/>
              </a:rPr>
              <a:t>Zygote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divides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several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times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form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85">
                <a:latin typeface="Cambria"/>
                <a:cs typeface="Cambria"/>
              </a:rPr>
              <a:t>an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embryo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within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ovule.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ovule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develops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tough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coat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converted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into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seed.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45800"/>
              </a:lnSpc>
            </a:pPr>
            <a:r>
              <a:rPr dirty="0" sz="1200" spc="75">
                <a:latin typeface="Cambria"/>
                <a:cs typeface="Cambria"/>
              </a:rPr>
              <a:t>Ovary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grows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rapidly</a:t>
            </a:r>
            <a:r>
              <a:rPr dirty="0" sz="1200" spc="75">
                <a:latin typeface="Cambria"/>
                <a:cs typeface="Cambria"/>
              </a:rPr>
              <a:t> and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ripens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forms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fruit,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while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seed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contains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future </a:t>
            </a:r>
            <a:r>
              <a:rPr dirty="0" sz="1200" spc="55">
                <a:latin typeface="Cambria"/>
                <a:cs typeface="Cambria"/>
              </a:rPr>
              <a:t>plant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or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embryo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develops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into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seedling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under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suitable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condition.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This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35">
                <a:latin typeface="Cambria"/>
                <a:cs typeface="Cambria"/>
              </a:rPr>
              <a:t>process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known </a:t>
            </a:r>
            <a:r>
              <a:rPr dirty="0" sz="1200" spc="50">
                <a:latin typeface="Cambria"/>
                <a:cs typeface="Cambria"/>
              </a:rPr>
              <a:t>as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Germination.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200" spc="50">
                <a:latin typeface="Cambria"/>
                <a:cs typeface="Cambria"/>
              </a:rPr>
              <a:t>Flowers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can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also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be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unisexual(contain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either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stamen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or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carpel)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or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bisexual(contains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704850" y="8718550"/>
            <a:ext cx="63500" cy="63500"/>
            <a:chOff x="704850" y="8718550"/>
            <a:chExt cx="63500" cy="63500"/>
          </a:xfrm>
        </p:grpSpPr>
        <p:sp>
          <p:nvSpPr>
            <p:cNvPr id="25" name="object 25" descr=""/>
            <p:cNvSpPr/>
            <p:nvPr/>
          </p:nvSpPr>
          <p:spPr>
            <a:xfrm>
              <a:off x="711200" y="87249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11200" y="87249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704850" y="9518650"/>
            <a:ext cx="63500" cy="63500"/>
            <a:chOff x="704850" y="9518650"/>
            <a:chExt cx="63500" cy="63500"/>
          </a:xfrm>
        </p:grpSpPr>
        <p:sp>
          <p:nvSpPr>
            <p:cNvPr id="28" name="object 28" descr=""/>
            <p:cNvSpPr/>
            <p:nvPr/>
          </p:nvSpPr>
          <p:spPr>
            <a:xfrm>
              <a:off x="711200" y="95250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11200" y="95250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0" name="object 3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160" y="215922"/>
            <a:ext cx="1418676" cy="429030"/>
          </a:xfrm>
          <a:prstGeom prst="rect">
            <a:avLst/>
          </a:prstGeom>
        </p:spPr>
      </p:pic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10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  <p:sp>
        <p:nvSpPr>
          <p:cNvPr id="32" name="object 32" descr=""/>
          <p:cNvSpPr txBox="1"/>
          <p:nvPr/>
        </p:nvSpPr>
        <p:spPr>
          <a:xfrm>
            <a:off x="2068309" y="10070131"/>
            <a:ext cx="2965450" cy="1733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20" b="1">
                <a:latin typeface="Cambria"/>
                <a:cs typeface="Cambria"/>
              </a:rPr>
              <a:t>Material</a:t>
            </a:r>
            <a:r>
              <a:rPr dirty="0" sz="1000" spc="220" b="1">
                <a:latin typeface="Cambria"/>
                <a:cs typeface="Cambria"/>
              </a:rPr>
              <a:t> </a:t>
            </a:r>
            <a:r>
              <a:rPr dirty="0" sz="1000" spc="20" b="1">
                <a:latin typeface="Cambria"/>
                <a:cs typeface="Cambria"/>
              </a:rPr>
              <a:t>downloaded</a:t>
            </a:r>
            <a:r>
              <a:rPr dirty="0" sz="1000" spc="240" b="1">
                <a:latin typeface="Cambria"/>
                <a:cs typeface="Cambria"/>
              </a:rPr>
              <a:t> </a:t>
            </a:r>
            <a:r>
              <a:rPr dirty="0" sz="1000" spc="60" b="1">
                <a:latin typeface="Cambria"/>
                <a:cs typeface="Cambria"/>
              </a:rPr>
              <a:t>from</a:t>
            </a:r>
            <a:r>
              <a:rPr dirty="0" sz="1000" spc="204" b="1">
                <a:latin typeface="Cambria"/>
                <a:cs typeface="Cambria"/>
              </a:rPr>
              <a:t> </a:t>
            </a:r>
            <a:r>
              <a:rPr dirty="0" u="sng" sz="1000" spc="-10" b="1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Arial"/>
                <a:cs typeface="Arial"/>
                <a:hlinkClick r:id="rId5"/>
              </a:rPr>
              <a:t>www.vidyakul.com</a:t>
            </a:r>
            <a:r>
              <a:rPr dirty="0" sz="1000" spc="-10" b="1">
                <a:latin typeface="Cambria"/>
                <a:cs typeface="Cambria"/>
                <a:hlinkClick r:id="rId5"/>
              </a:rPr>
              <a:t>.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04850" y="1314450"/>
            <a:ext cx="63500" cy="63500"/>
            <a:chOff x="704850" y="1314450"/>
            <a:chExt cx="63500" cy="63500"/>
          </a:xfrm>
        </p:grpSpPr>
        <p:sp>
          <p:nvSpPr>
            <p:cNvPr id="3" name="object 3" descr=""/>
            <p:cNvSpPr/>
            <p:nvPr/>
          </p:nvSpPr>
          <p:spPr>
            <a:xfrm>
              <a:off x="711200" y="1320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11200" y="1320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704850" y="2152650"/>
            <a:ext cx="63500" cy="63500"/>
            <a:chOff x="704850" y="2152650"/>
            <a:chExt cx="63500" cy="63500"/>
          </a:xfrm>
        </p:grpSpPr>
        <p:sp>
          <p:nvSpPr>
            <p:cNvPr id="6" name="object 6" descr=""/>
            <p:cNvSpPr/>
            <p:nvPr/>
          </p:nvSpPr>
          <p:spPr>
            <a:xfrm>
              <a:off x="711200" y="21590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11200" y="21590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704850" y="2419350"/>
            <a:ext cx="63500" cy="63500"/>
            <a:chOff x="704850" y="2419350"/>
            <a:chExt cx="63500" cy="63500"/>
          </a:xfrm>
        </p:grpSpPr>
        <p:sp>
          <p:nvSpPr>
            <p:cNvPr id="9" name="object 9" descr=""/>
            <p:cNvSpPr/>
            <p:nvPr/>
          </p:nvSpPr>
          <p:spPr>
            <a:xfrm>
              <a:off x="711200" y="24257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11200" y="24257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704850" y="3790950"/>
            <a:ext cx="63500" cy="63500"/>
            <a:chOff x="704850" y="3790950"/>
            <a:chExt cx="63500" cy="63500"/>
          </a:xfrm>
        </p:grpSpPr>
        <p:sp>
          <p:nvSpPr>
            <p:cNvPr id="12" name="object 12" descr=""/>
            <p:cNvSpPr/>
            <p:nvPr/>
          </p:nvSpPr>
          <p:spPr>
            <a:xfrm>
              <a:off x="711200" y="3797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11200" y="3797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704850" y="4324350"/>
            <a:ext cx="63500" cy="63500"/>
            <a:chOff x="704850" y="4324350"/>
            <a:chExt cx="63500" cy="63500"/>
          </a:xfrm>
        </p:grpSpPr>
        <p:sp>
          <p:nvSpPr>
            <p:cNvPr id="15" name="object 15" descr=""/>
            <p:cNvSpPr/>
            <p:nvPr/>
          </p:nvSpPr>
          <p:spPr>
            <a:xfrm>
              <a:off x="711200" y="43307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11200" y="43307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704850" y="5124450"/>
            <a:ext cx="63500" cy="63500"/>
            <a:chOff x="704850" y="5124450"/>
            <a:chExt cx="63500" cy="63500"/>
          </a:xfrm>
        </p:grpSpPr>
        <p:sp>
          <p:nvSpPr>
            <p:cNvPr id="18" name="object 18" descr=""/>
            <p:cNvSpPr/>
            <p:nvPr/>
          </p:nvSpPr>
          <p:spPr>
            <a:xfrm>
              <a:off x="711200" y="5130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11200" y="5130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704850" y="6381750"/>
            <a:ext cx="63500" cy="63500"/>
            <a:chOff x="704850" y="6381750"/>
            <a:chExt cx="63500" cy="63500"/>
          </a:xfrm>
        </p:grpSpPr>
        <p:sp>
          <p:nvSpPr>
            <p:cNvPr id="21" name="object 21" descr=""/>
            <p:cNvSpPr/>
            <p:nvPr/>
          </p:nvSpPr>
          <p:spPr>
            <a:xfrm>
              <a:off x="711200" y="63881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11200" y="63881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381000" y="881380"/>
            <a:ext cx="6764020" cy="615950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dirty="0" sz="1200" spc="55">
                <a:latin typeface="Cambria"/>
                <a:cs typeface="Cambria"/>
              </a:rPr>
              <a:t>both </a:t>
            </a:r>
            <a:r>
              <a:rPr dirty="0" sz="1200" spc="60">
                <a:latin typeface="Cambria"/>
                <a:cs typeface="Cambria"/>
              </a:rPr>
              <a:t>stamen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35">
                <a:latin typeface="Cambria"/>
                <a:cs typeface="Cambria"/>
              </a:rPr>
              <a:t>carpel).</a:t>
            </a:r>
            <a:endParaRPr sz="1200">
              <a:latin typeface="Cambria"/>
              <a:cs typeface="Cambria"/>
            </a:endParaRPr>
          </a:p>
          <a:p>
            <a:pPr marL="520700">
              <a:lnSpc>
                <a:spcPct val="100000"/>
              </a:lnSpc>
              <a:spcBef>
                <a:spcPts val="660"/>
              </a:spcBef>
            </a:pPr>
            <a:r>
              <a:rPr dirty="0" sz="1200" spc="65">
                <a:latin typeface="Cambria"/>
                <a:cs typeface="Cambria"/>
              </a:rPr>
              <a:t>Unisexual </a:t>
            </a:r>
            <a:r>
              <a:rPr dirty="0" sz="1200" spc="55">
                <a:latin typeface="Cambria"/>
                <a:cs typeface="Cambria"/>
              </a:rPr>
              <a:t>flowers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:PAPAYA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,WATERMELON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.Bisexual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flowers:HIBISCUS,MUSTARD.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200" spc="50" b="1">
                <a:latin typeface="Cambria"/>
                <a:cs typeface="Cambria"/>
              </a:rPr>
              <a:t>Reproduction</a:t>
            </a:r>
            <a:r>
              <a:rPr dirty="0" sz="1200" spc="65" b="1">
                <a:latin typeface="Cambria"/>
                <a:cs typeface="Cambria"/>
              </a:rPr>
              <a:t> </a:t>
            </a:r>
            <a:r>
              <a:rPr dirty="0" sz="1200" spc="55" b="1">
                <a:latin typeface="Cambria"/>
                <a:cs typeface="Cambria"/>
              </a:rPr>
              <a:t>in</a:t>
            </a:r>
            <a:r>
              <a:rPr dirty="0" sz="1200" spc="65" b="1">
                <a:latin typeface="Cambria"/>
                <a:cs typeface="Cambria"/>
              </a:rPr>
              <a:t> </a:t>
            </a:r>
            <a:r>
              <a:rPr dirty="0" sz="1200" spc="85" b="1">
                <a:latin typeface="Cambria"/>
                <a:cs typeface="Cambria"/>
              </a:rPr>
              <a:t>Human</a:t>
            </a:r>
            <a:r>
              <a:rPr dirty="0" sz="1200" spc="65" b="1">
                <a:latin typeface="Cambria"/>
                <a:cs typeface="Cambria"/>
              </a:rPr>
              <a:t> </a:t>
            </a:r>
            <a:r>
              <a:rPr dirty="0" sz="1200" spc="-10" b="1">
                <a:latin typeface="Cambria"/>
                <a:cs typeface="Cambria"/>
              </a:rPr>
              <a:t>Beings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mbria"/>
              <a:cs typeface="Cambria"/>
            </a:endParaRPr>
          </a:p>
          <a:p>
            <a:pPr marL="520700">
              <a:lnSpc>
                <a:spcPct val="100000"/>
              </a:lnSpc>
            </a:pPr>
            <a:r>
              <a:rPr dirty="0" sz="1200" spc="85">
                <a:latin typeface="Cambria"/>
                <a:cs typeface="Cambria"/>
              </a:rPr>
              <a:t>Humans</a:t>
            </a:r>
            <a:r>
              <a:rPr dirty="0" sz="1200" spc="50">
                <a:latin typeface="Cambria"/>
                <a:cs typeface="Cambria"/>
              </a:rPr>
              <a:t> use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Sexual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Mode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reproduction.</a:t>
            </a:r>
            <a:endParaRPr sz="1200">
              <a:latin typeface="Cambria"/>
              <a:cs typeface="Cambria"/>
            </a:endParaRPr>
          </a:p>
          <a:p>
            <a:pPr marL="520700" marR="194310">
              <a:lnSpc>
                <a:spcPct val="145800"/>
              </a:lnSpc>
            </a:pP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needs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sexual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maturation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includes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creation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germ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cells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ie,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egg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(ova)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in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female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65">
                <a:latin typeface="Cambria"/>
                <a:cs typeface="Cambria"/>
              </a:rPr>
              <a:t> sperm in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male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partener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&amp;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this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period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65">
                <a:latin typeface="Cambria"/>
                <a:cs typeface="Cambria"/>
              </a:rPr>
              <a:t> sexual </a:t>
            </a:r>
            <a:r>
              <a:rPr dirty="0" sz="1200" spc="60">
                <a:latin typeface="Cambria"/>
                <a:cs typeface="Cambria"/>
              </a:rPr>
              <a:t>maturation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is </a:t>
            </a:r>
            <a:r>
              <a:rPr dirty="0" sz="1200" spc="55">
                <a:latin typeface="Cambria"/>
                <a:cs typeface="Cambria"/>
              </a:rPr>
              <a:t>called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Puberty.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200" spc="65" b="1">
                <a:latin typeface="Cambria"/>
                <a:cs typeface="Cambria"/>
              </a:rPr>
              <a:t>Male</a:t>
            </a:r>
            <a:r>
              <a:rPr dirty="0" sz="1200" spc="50" b="1">
                <a:latin typeface="Cambria"/>
                <a:cs typeface="Cambria"/>
              </a:rPr>
              <a:t> </a:t>
            </a:r>
            <a:r>
              <a:rPr dirty="0" sz="1200" spc="55" b="1">
                <a:latin typeface="Cambria"/>
                <a:cs typeface="Cambria"/>
              </a:rPr>
              <a:t>Reproductive</a:t>
            </a:r>
            <a:r>
              <a:rPr dirty="0" sz="1200" spc="50" b="1">
                <a:latin typeface="Cambria"/>
                <a:cs typeface="Cambria"/>
              </a:rPr>
              <a:t> System</a:t>
            </a:r>
            <a:endParaRPr sz="1200">
              <a:latin typeface="Cambria"/>
              <a:cs typeface="Cambria"/>
            </a:endParaRPr>
          </a:p>
          <a:p>
            <a:pPr marL="520700" marR="88900">
              <a:lnSpc>
                <a:spcPct val="145800"/>
              </a:lnSpc>
              <a:spcBef>
                <a:spcPts val="1200"/>
              </a:spcBef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formation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male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germ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cell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(sperms)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takes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place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testes(male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reproductive </a:t>
            </a:r>
            <a:r>
              <a:rPr dirty="0" sz="1200" spc="-10">
                <a:latin typeface="Cambria"/>
                <a:cs typeface="Cambria"/>
              </a:rPr>
              <a:t>organ)</a:t>
            </a:r>
            <a:endParaRPr sz="1200">
              <a:latin typeface="Cambria"/>
              <a:cs typeface="Cambria"/>
            </a:endParaRPr>
          </a:p>
          <a:p>
            <a:pPr marL="520700" marR="5080">
              <a:lnSpc>
                <a:spcPct val="145800"/>
              </a:lnSpc>
            </a:pPr>
            <a:r>
              <a:rPr dirty="0" sz="1200" spc="90">
                <a:latin typeface="Cambria"/>
                <a:cs typeface="Cambria"/>
              </a:rPr>
              <a:t>A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pair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testes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are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located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inside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scrotum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present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outside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abdominal cavity. Scrotum has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relatively</a:t>
            </a:r>
            <a:r>
              <a:rPr dirty="0" sz="1200" spc="60">
                <a:latin typeface="Cambria"/>
                <a:cs typeface="Cambria"/>
              </a:rPr>
              <a:t> low temperature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needed for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production</a:t>
            </a:r>
            <a:r>
              <a:rPr dirty="0" sz="1200" spc="60">
                <a:latin typeface="Cambria"/>
                <a:cs typeface="Cambria"/>
              </a:rPr>
              <a:t> of </a:t>
            </a:r>
            <a:r>
              <a:rPr dirty="0" sz="1200" spc="45">
                <a:latin typeface="Cambria"/>
                <a:cs typeface="Cambria"/>
              </a:rPr>
              <a:t>sperms </a:t>
            </a:r>
            <a:r>
              <a:rPr dirty="0" sz="1200" spc="65">
                <a:latin typeface="Cambria"/>
                <a:cs typeface="Cambria"/>
              </a:rPr>
              <a:t>by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testes.</a:t>
            </a:r>
            <a:endParaRPr sz="1200">
              <a:latin typeface="Cambria"/>
              <a:cs typeface="Cambria"/>
            </a:endParaRPr>
          </a:p>
          <a:p>
            <a:pPr marL="520700">
              <a:lnSpc>
                <a:spcPct val="100000"/>
              </a:lnSpc>
              <a:spcBef>
                <a:spcPts val="660"/>
              </a:spcBef>
            </a:pPr>
            <a:r>
              <a:rPr dirty="0" sz="1200" spc="20">
                <a:latin typeface="Cambria"/>
                <a:cs typeface="Cambria"/>
              </a:rPr>
              <a:t>Testes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release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male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sex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hormone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called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20" b="1">
                <a:latin typeface="Cambria"/>
                <a:cs typeface="Cambria"/>
              </a:rPr>
              <a:t>testosterone</a:t>
            </a:r>
            <a:r>
              <a:rPr dirty="0" sz="1200" spc="85" b="1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20">
                <a:latin typeface="Cambria"/>
                <a:cs typeface="Cambria"/>
              </a:rPr>
              <a:t>its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function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20">
                <a:latin typeface="Cambria"/>
                <a:cs typeface="Cambria"/>
              </a:rPr>
              <a:t>is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to: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Cambria"/>
              <a:cs typeface="Cambria"/>
            </a:endParaRPr>
          </a:p>
          <a:p>
            <a:pPr marL="179705" indent="-16700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79705" algn="l"/>
              </a:tabLst>
            </a:pPr>
            <a:r>
              <a:rPr dirty="0" sz="1200" spc="45">
                <a:latin typeface="Cambria"/>
                <a:cs typeface="Cambria"/>
              </a:rPr>
              <a:t>Regulate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production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sperm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Cambria"/>
              <a:buAutoNum type="arabicPeriod"/>
            </a:pPr>
            <a:endParaRPr sz="1200">
              <a:latin typeface="Cambria"/>
              <a:cs typeface="Cambria"/>
            </a:endParaRPr>
          </a:p>
          <a:p>
            <a:pPr marL="179705" indent="-167005">
              <a:lnSpc>
                <a:spcPct val="100000"/>
              </a:lnSpc>
              <a:buAutoNum type="arabicPeriod"/>
              <a:tabLst>
                <a:tab pos="179705" algn="l"/>
              </a:tabLst>
            </a:pPr>
            <a:r>
              <a:rPr dirty="0" sz="1200" spc="55">
                <a:latin typeface="Cambria"/>
                <a:cs typeface="Cambria"/>
              </a:rPr>
              <a:t>Bring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about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changes</a:t>
            </a:r>
            <a:r>
              <a:rPr dirty="0" sz="1200" spc="65">
                <a:latin typeface="Cambria"/>
                <a:cs typeface="Cambria"/>
              </a:rPr>
              <a:t> in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appearance </a:t>
            </a:r>
            <a:r>
              <a:rPr dirty="0" sz="1200" spc="55">
                <a:latin typeface="Cambria"/>
                <a:cs typeface="Cambria"/>
              </a:rPr>
              <a:t>seen</a:t>
            </a:r>
            <a:r>
              <a:rPr dirty="0" sz="1200" spc="65">
                <a:latin typeface="Cambria"/>
                <a:cs typeface="Cambria"/>
              </a:rPr>
              <a:t> in </a:t>
            </a:r>
            <a:r>
              <a:rPr dirty="0" sz="1200" spc="50">
                <a:latin typeface="Cambria"/>
                <a:cs typeface="Cambria"/>
              </a:rPr>
              <a:t>boys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at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time</a:t>
            </a:r>
            <a:r>
              <a:rPr dirty="0" sz="1200" spc="60">
                <a:latin typeface="Cambria"/>
                <a:cs typeface="Cambria"/>
              </a:rPr>
              <a:t> of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puberty.</a:t>
            </a:r>
            <a:endParaRPr sz="1200">
              <a:latin typeface="Cambria"/>
              <a:cs typeface="Cambria"/>
            </a:endParaRPr>
          </a:p>
          <a:p>
            <a:pPr algn="just" marL="520700" marR="236220">
              <a:lnSpc>
                <a:spcPct val="145800"/>
              </a:lnSpc>
              <a:spcBef>
                <a:spcPts val="1200"/>
              </a:spcBef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sperms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along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with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secretion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prostate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gland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seminalvesicle,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35">
                <a:latin typeface="Cambria"/>
                <a:cs typeface="Cambria"/>
              </a:rPr>
              <a:t>together </a:t>
            </a:r>
            <a:r>
              <a:rPr dirty="0" sz="1200" spc="20">
                <a:latin typeface="Cambria"/>
                <a:cs typeface="Cambria"/>
              </a:rPr>
              <a:t>constitute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semen,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20">
                <a:latin typeface="Cambria"/>
                <a:cs typeface="Cambria"/>
              </a:rPr>
              <a:t>is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released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80">
                <a:latin typeface="Cambria"/>
                <a:cs typeface="Cambria"/>
              </a:rPr>
              <a:t> made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20">
                <a:latin typeface="Cambria"/>
                <a:cs typeface="Cambria"/>
              </a:rPr>
              <a:t>to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enter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20">
                <a:latin typeface="Cambria"/>
                <a:cs typeface="Cambria"/>
              </a:rPr>
              <a:t>into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female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genital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tract </a:t>
            </a:r>
            <a:r>
              <a:rPr dirty="0" sz="1200" spc="65">
                <a:latin typeface="Cambria"/>
                <a:cs typeface="Cambria"/>
              </a:rPr>
              <a:t>during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50" b="1">
                <a:latin typeface="Cambria"/>
                <a:cs typeface="Cambria"/>
              </a:rPr>
              <a:t>Copulation.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700" y="7073900"/>
            <a:ext cx="2946400" cy="2743200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3338" y="211803"/>
            <a:ext cx="1418676" cy="429030"/>
          </a:xfrm>
          <a:prstGeom prst="rect">
            <a:avLst/>
          </a:prstGeom>
        </p:spPr>
      </p:pic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10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  <p:sp>
        <p:nvSpPr>
          <p:cNvPr id="27" name="object 27" descr=""/>
          <p:cNvSpPr txBox="1"/>
          <p:nvPr/>
        </p:nvSpPr>
        <p:spPr>
          <a:xfrm>
            <a:off x="2068309" y="10070131"/>
            <a:ext cx="2965450" cy="1733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20" b="1">
                <a:latin typeface="Cambria"/>
                <a:cs typeface="Cambria"/>
              </a:rPr>
              <a:t>Material</a:t>
            </a:r>
            <a:r>
              <a:rPr dirty="0" sz="1000" spc="220" b="1">
                <a:latin typeface="Cambria"/>
                <a:cs typeface="Cambria"/>
              </a:rPr>
              <a:t> </a:t>
            </a:r>
            <a:r>
              <a:rPr dirty="0" sz="1000" spc="20" b="1">
                <a:latin typeface="Cambria"/>
                <a:cs typeface="Cambria"/>
              </a:rPr>
              <a:t>downloaded</a:t>
            </a:r>
            <a:r>
              <a:rPr dirty="0" sz="1000" spc="240" b="1">
                <a:latin typeface="Cambria"/>
                <a:cs typeface="Cambria"/>
              </a:rPr>
              <a:t> </a:t>
            </a:r>
            <a:r>
              <a:rPr dirty="0" sz="1000" spc="60" b="1">
                <a:latin typeface="Cambria"/>
                <a:cs typeface="Cambria"/>
              </a:rPr>
              <a:t>from</a:t>
            </a:r>
            <a:r>
              <a:rPr dirty="0" sz="1000" spc="204" b="1">
                <a:latin typeface="Cambria"/>
                <a:cs typeface="Cambria"/>
              </a:rPr>
              <a:t> </a:t>
            </a:r>
            <a:r>
              <a:rPr dirty="0" u="sng" sz="1000" spc="-10" b="1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Arial"/>
                <a:cs typeface="Arial"/>
                <a:hlinkClick r:id="rId4"/>
              </a:rPr>
              <a:t>www.vidyakul.com</a:t>
            </a:r>
            <a:r>
              <a:rPr dirty="0" sz="1000" spc="-10" b="1">
                <a:latin typeface="Cambria"/>
                <a:cs typeface="Cambria"/>
                <a:hlinkClick r:id="rId4"/>
              </a:rPr>
              <a:t>.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04850" y="1466850"/>
            <a:ext cx="63500" cy="63500"/>
            <a:chOff x="704850" y="1466850"/>
            <a:chExt cx="63500" cy="63500"/>
          </a:xfrm>
        </p:grpSpPr>
        <p:sp>
          <p:nvSpPr>
            <p:cNvPr id="3" name="object 3" descr=""/>
            <p:cNvSpPr/>
            <p:nvPr/>
          </p:nvSpPr>
          <p:spPr>
            <a:xfrm>
              <a:off x="711200" y="14732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11200" y="14732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704850" y="2000250"/>
            <a:ext cx="63500" cy="63500"/>
            <a:chOff x="704850" y="2000250"/>
            <a:chExt cx="63500" cy="63500"/>
          </a:xfrm>
        </p:grpSpPr>
        <p:sp>
          <p:nvSpPr>
            <p:cNvPr id="6" name="object 6" descr=""/>
            <p:cNvSpPr/>
            <p:nvPr/>
          </p:nvSpPr>
          <p:spPr>
            <a:xfrm>
              <a:off x="711200" y="20066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11200" y="20066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704850" y="2266950"/>
            <a:ext cx="63500" cy="63500"/>
            <a:chOff x="704850" y="2266950"/>
            <a:chExt cx="63500" cy="63500"/>
          </a:xfrm>
        </p:grpSpPr>
        <p:sp>
          <p:nvSpPr>
            <p:cNvPr id="9" name="object 9" descr=""/>
            <p:cNvSpPr/>
            <p:nvPr/>
          </p:nvSpPr>
          <p:spPr>
            <a:xfrm>
              <a:off x="711200" y="2273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11200" y="2273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81000" y="965200"/>
            <a:ext cx="6558280" cy="1694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60" b="1">
                <a:latin typeface="Cambria"/>
                <a:cs typeface="Cambria"/>
              </a:rPr>
              <a:t>Female</a:t>
            </a:r>
            <a:r>
              <a:rPr dirty="0" sz="1200" spc="55" b="1">
                <a:latin typeface="Cambria"/>
                <a:cs typeface="Cambria"/>
              </a:rPr>
              <a:t> Reproductive</a:t>
            </a:r>
            <a:r>
              <a:rPr dirty="0" sz="1200" spc="60" b="1">
                <a:latin typeface="Cambria"/>
                <a:cs typeface="Cambria"/>
              </a:rPr>
              <a:t> </a:t>
            </a:r>
            <a:r>
              <a:rPr dirty="0" sz="1200" spc="50" b="1">
                <a:latin typeface="Cambria"/>
                <a:cs typeface="Cambria"/>
              </a:rPr>
              <a:t>System</a:t>
            </a:r>
            <a:endParaRPr sz="1200">
              <a:latin typeface="Cambria"/>
              <a:cs typeface="Cambria"/>
            </a:endParaRPr>
          </a:p>
          <a:p>
            <a:pPr marL="520700" marR="118745">
              <a:lnSpc>
                <a:spcPct val="145800"/>
              </a:lnSpc>
              <a:spcBef>
                <a:spcPts val="1200"/>
              </a:spcBef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female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germ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cells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or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eggs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are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produced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ovaries.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(located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both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side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35">
                <a:latin typeface="Cambria"/>
                <a:cs typeface="Cambria"/>
              </a:rPr>
              <a:t>of </a:t>
            </a:r>
            <a:r>
              <a:rPr dirty="0" sz="1200" spc="50">
                <a:latin typeface="Cambria"/>
                <a:cs typeface="Cambria"/>
              </a:rPr>
              <a:t>abdomen).</a:t>
            </a:r>
            <a:endParaRPr sz="1200">
              <a:latin typeface="Cambria"/>
              <a:cs typeface="Cambria"/>
            </a:endParaRPr>
          </a:p>
          <a:p>
            <a:pPr marL="520700">
              <a:lnSpc>
                <a:spcPct val="100000"/>
              </a:lnSpc>
              <a:spcBef>
                <a:spcPts val="660"/>
              </a:spcBef>
            </a:pPr>
            <a:r>
              <a:rPr dirty="0" sz="1200" spc="95">
                <a:latin typeface="Cambria"/>
                <a:cs typeface="Cambria"/>
              </a:rPr>
              <a:t>When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girl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born,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ovaries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already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contain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thousands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immature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eggs.</a:t>
            </a:r>
            <a:endParaRPr sz="1200">
              <a:latin typeface="Cambria"/>
              <a:cs typeface="Cambria"/>
            </a:endParaRPr>
          </a:p>
          <a:p>
            <a:pPr marL="520700" marR="5080">
              <a:lnSpc>
                <a:spcPct val="145800"/>
              </a:lnSpc>
            </a:pPr>
            <a:r>
              <a:rPr dirty="0" sz="1200" spc="50">
                <a:latin typeface="Cambria"/>
                <a:cs typeface="Cambria"/>
              </a:rPr>
              <a:t>At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puberty,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some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these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eggs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start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maturing.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One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egg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produced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every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month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by </a:t>
            </a:r>
            <a:r>
              <a:rPr dirty="0" sz="1200" spc="60">
                <a:latin typeface="Cambria"/>
                <a:cs typeface="Cambria"/>
              </a:rPr>
              <a:t>one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50">
                <a:latin typeface="Cambria"/>
                <a:cs typeface="Cambria"/>
              </a:rPr>
              <a:t> the </a:t>
            </a:r>
            <a:r>
              <a:rPr dirty="0" sz="1200" spc="45">
                <a:latin typeface="Cambria"/>
                <a:cs typeface="Cambria"/>
              </a:rPr>
              <a:t>ovaries.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700" y="2692400"/>
            <a:ext cx="3352800" cy="2235200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704850" y="5035550"/>
            <a:ext cx="63500" cy="63500"/>
            <a:chOff x="704850" y="5035550"/>
            <a:chExt cx="63500" cy="63500"/>
          </a:xfrm>
        </p:grpSpPr>
        <p:sp>
          <p:nvSpPr>
            <p:cNvPr id="14" name="object 14" descr=""/>
            <p:cNvSpPr/>
            <p:nvPr/>
          </p:nvSpPr>
          <p:spPr>
            <a:xfrm>
              <a:off x="711200" y="50419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11200" y="50419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89000" y="4869179"/>
            <a:ext cx="6282055" cy="482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69240">
              <a:lnSpc>
                <a:spcPct val="145800"/>
              </a:lnSpc>
              <a:spcBef>
                <a:spcPts val="100"/>
              </a:spcBef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Egg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carried</a:t>
            </a:r>
            <a:r>
              <a:rPr dirty="0" sz="1200" spc="75">
                <a:latin typeface="Cambria"/>
                <a:cs typeface="Cambria"/>
              </a:rPr>
              <a:t> from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ovary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85">
                <a:latin typeface="Cambria"/>
                <a:cs typeface="Cambria"/>
              </a:rPr>
              <a:t>womb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through</a:t>
            </a:r>
            <a:r>
              <a:rPr dirty="0" sz="1200" spc="80">
                <a:latin typeface="Cambria"/>
                <a:cs typeface="Cambria"/>
              </a:rPr>
              <a:t> a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fallopian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tube.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These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25">
                <a:latin typeface="Cambria"/>
                <a:cs typeface="Cambria"/>
              </a:rPr>
              <a:t>two </a:t>
            </a:r>
            <a:r>
              <a:rPr dirty="0" sz="1200" spc="60">
                <a:latin typeface="Cambria"/>
                <a:cs typeface="Cambria"/>
              </a:rPr>
              <a:t>fallopian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tube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unite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into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85">
                <a:latin typeface="Cambria"/>
                <a:cs typeface="Cambria"/>
              </a:rPr>
              <a:t>an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elastic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bag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like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structure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known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as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uterus.</a:t>
            </a:r>
            <a:endParaRPr sz="1200">
              <a:latin typeface="Cambria"/>
              <a:cs typeface="Cambria"/>
            </a:endParaRPr>
          </a:p>
          <a:p>
            <a:pPr marL="12700" marR="1663064">
              <a:lnSpc>
                <a:spcPct val="145800"/>
              </a:lnSpc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Uterus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opens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into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vagina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through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cervix. </a:t>
            </a:r>
            <a:r>
              <a:rPr dirty="0" sz="1200" spc="45">
                <a:latin typeface="Cambria"/>
                <a:cs typeface="Cambria"/>
              </a:rPr>
              <a:t>Fertilization</a:t>
            </a:r>
            <a:r>
              <a:rPr dirty="0" sz="1200" spc="55">
                <a:latin typeface="Cambria"/>
                <a:cs typeface="Cambria"/>
              </a:rPr>
              <a:t> occurs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fallopian </a:t>
            </a:r>
            <a:r>
              <a:rPr dirty="0" sz="1200" spc="55">
                <a:latin typeface="Cambria"/>
                <a:cs typeface="Cambria"/>
              </a:rPr>
              <a:t>tube </a:t>
            </a:r>
            <a:r>
              <a:rPr dirty="0" sz="1200" spc="60">
                <a:latin typeface="Cambria"/>
                <a:cs typeface="Cambria"/>
              </a:rPr>
              <a:t>of </a:t>
            </a:r>
            <a:r>
              <a:rPr dirty="0" sz="1200" spc="70">
                <a:latin typeface="Cambria"/>
                <a:cs typeface="Cambria"/>
              </a:rPr>
              <a:t>female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genital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tract.</a:t>
            </a:r>
            <a:endParaRPr sz="1200">
              <a:latin typeface="Cambria"/>
              <a:cs typeface="Cambria"/>
            </a:endParaRPr>
          </a:p>
          <a:p>
            <a:pPr marL="12700" marR="21590">
              <a:lnSpc>
                <a:spcPct val="145800"/>
              </a:lnSpc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fertilized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egg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also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called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zygote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(2n)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gets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implanted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lining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uterus,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and </a:t>
            </a:r>
            <a:r>
              <a:rPr dirty="0" sz="1200">
                <a:latin typeface="Cambria"/>
                <a:cs typeface="Cambria"/>
              </a:rPr>
              <a:t>start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dividing.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Actually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uterus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richly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supplied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with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blood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nourish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growing </a:t>
            </a:r>
            <a:r>
              <a:rPr dirty="0" sz="1200" spc="70">
                <a:latin typeface="Cambria"/>
                <a:cs typeface="Cambria"/>
              </a:rPr>
              <a:t>embryo.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If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zygote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not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formed,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inner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wall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uterus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breaks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causes</a:t>
            </a:r>
            <a:r>
              <a:rPr dirty="0" sz="1200" spc="500">
                <a:latin typeface="Cambria"/>
                <a:cs typeface="Cambria"/>
              </a:rPr>
              <a:t>  </a:t>
            </a:r>
            <a:r>
              <a:rPr dirty="0" sz="1200" spc="55">
                <a:latin typeface="Cambria"/>
                <a:cs typeface="Cambria"/>
              </a:rPr>
              <a:t>bleeding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through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vagina.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This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process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called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75" b="1">
                <a:latin typeface="Cambria"/>
                <a:cs typeface="Cambria"/>
              </a:rPr>
              <a:t>MENSTRUATION.</a:t>
            </a:r>
            <a:r>
              <a:rPr dirty="0" sz="1200" spc="95" b="1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occurs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at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a</a:t>
            </a:r>
            <a:r>
              <a:rPr dirty="0" sz="1200" spc="50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regular</a:t>
            </a:r>
            <a:r>
              <a:rPr dirty="0" sz="1200" spc="55">
                <a:latin typeface="Cambria"/>
                <a:cs typeface="Cambria"/>
              </a:rPr>
              <a:t> interval </a:t>
            </a:r>
            <a:r>
              <a:rPr dirty="0" sz="1200" spc="60">
                <a:latin typeface="Cambria"/>
                <a:cs typeface="Cambria"/>
              </a:rPr>
              <a:t>of </a:t>
            </a:r>
            <a:r>
              <a:rPr dirty="0" sz="1200">
                <a:latin typeface="Cambria"/>
                <a:cs typeface="Cambria"/>
              </a:rPr>
              <a:t>28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days.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45800"/>
              </a:lnSpc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Embryo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gets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nutrition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from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mother's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blood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with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help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special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tissue </a:t>
            </a:r>
            <a:r>
              <a:rPr dirty="0" sz="1200" spc="55">
                <a:latin typeface="Cambria"/>
                <a:cs typeface="Cambria"/>
              </a:rPr>
              <a:t>called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PLACENTA.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provides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large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surface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area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for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glucose</a:t>
            </a:r>
            <a:r>
              <a:rPr dirty="0" sz="1200" spc="75">
                <a:latin typeface="Cambria"/>
                <a:cs typeface="Cambria"/>
              </a:rPr>
              <a:t> and </a:t>
            </a:r>
            <a:r>
              <a:rPr dirty="0" sz="1200" spc="70">
                <a:latin typeface="Cambria"/>
                <a:cs typeface="Cambria"/>
              </a:rPr>
              <a:t>oxygen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pass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from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mother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embryo.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Similarly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wastes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from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developing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embryo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are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removed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mother's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blood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through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placenta.</a:t>
            </a:r>
            <a:endParaRPr sz="1200">
              <a:latin typeface="Cambria"/>
              <a:cs typeface="Cambria"/>
            </a:endParaRPr>
          </a:p>
          <a:p>
            <a:pPr marL="12700" marR="502920">
              <a:lnSpc>
                <a:spcPct val="145800"/>
              </a:lnSpc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time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period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from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fertilization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upto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birth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baby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called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45" b="1">
                <a:latin typeface="Cambria"/>
                <a:cs typeface="Cambria"/>
              </a:rPr>
              <a:t>Gestation </a:t>
            </a:r>
            <a:r>
              <a:rPr dirty="0" sz="1200" spc="50" b="1">
                <a:latin typeface="Cambria"/>
                <a:cs typeface="Cambria"/>
              </a:rPr>
              <a:t>Period</a:t>
            </a:r>
            <a:r>
              <a:rPr dirty="0" sz="1200" spc="50">
                <a:latin typeface="Cambria"/>
                <a:cs typeface="Cambria"/>
              </a:rPr>
              <a:t>.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In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humans,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about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nine </a:t>
            </a:r>
            <a:r>
              <a:rPr dirty="0" sz="1200" spc="60">
                <a:latin typeface="Cambria"/>
                <a:cs typeface="Cambria"/>
              </a:rPr>
              <a:t>months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(36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35">
                <a:latin typeface="Cambria"/>
                <a:cs typeface="Cambria"/>
              </a:rPr>
              <a:t>weeks).</a:t>
            </a:r>
            <a:endParaRPr sz="1200">
              <a:latin typeface="Cambria"/>
              <a:cs typeface="Cambria"/>
            </a:endParaRPr>
          </a:p>
          <a:p>
            <a:pPr marL="12700" marR="15240">
              <a:lnSpc>
                <a:spcPct val="145800"/>
              </a:lnSpc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sexual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cycle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(Menstruation)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85">
                <a:latin typeface="Cambria"/>
                <a:cs typeface="Cambria"/>
              </a:rPr>
              <a:t>woman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continues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upto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age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45-</a:t>
            </a:r>
            <a:r>
              <a:rPr dirty="0" sz="1200">
                <a:latin typeface="Cambria"/>
                <a:cs typeface="Cambria"/>
              </a:rPr>
              <a:t>50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years. </a:t>
            </a:r>
            <a:r>
              <a:rPr dirty="0" sz="1200" spc="55">
                <a:latin typeface="Cambria"/>
                <a:cs typeface="Cambria"/>
              </a:rPr>
              <a:t>After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that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ovaries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do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not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release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egg.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This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stage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called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0" b="1">
                <a:latin typeface="Cambria"/>
                <a:cs typeface="Cambria"/>
              </a:rPr>
              <a:t>Menopaus</a:t>
            </a:r>
            <a:r>
              <a:rPr dirty="0" sz="1200" spc="60">
                <a:latin typeface="Cambria"/>
                <a:cs typeface="Cambria"/>
              </a:rPr>
              <a:t>e.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also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marks the </a:t>
            </a:r>
            <a:r>
              <a:rPr dirty="0" sz="1200" spc="70">
                <a:latin typeface="Cambria"/>
                <a:cs typeface="Cambria"/>
              </a:rPr>
              <a:t>end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55">
                <a:latin typeface="Cambria"/>
                <a:cs typeface="Cambria"/>
              </a:rPr>
              <a:t> reproductive </a:t>
            </a:r>
            <a:r>
              <a:rPr dirty="0" sz="1200" spc="50">
                <a:latin typeface="Cambria"/>
                <a:cs typeface="Cambria"/>
              </a:rPr>
              <a:t>life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woman.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04850" y="5568950"/>
            <a:ext cx="63500" cy="63500"/>
            <a:chOff x="704850" y="5568950"/>
            <a:chExt cx="63500" cy="63500"/>
          </a:xfrm>
        </p:grpSpPr>
        <p:sp>
          <p:nvSpPr>
            <p:cNvPr id="18" name="object 18" descr=""/>
            <p:cNvSpPr/>
            <p:nvPr/>
          </p:nvSpPr>
          <p:spPr>
            <a:xfrm>
              <a:off x="711200" y="5575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11200" y="5575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704850" y="5835650"/>
            <a:ext cx="63500" cy="63500"/>
            <a:chOff x="704850" y="5835650"/>
            <a:chExt cx="63500" cy="63500"/>
          </a:xfrm>
        </p:grpSpPr>
        <p:sp>
          <p:nvSpPr>
            <p:cNvPr id="21" name="object 21" descr=""/>
            <p:cNvSpPr/>
            <p:nvPr/>
          </p:nvSpPr>
          <p:spPr>
            <a:xfrm>
              <a:off x="711200" y="58420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11200" y="58420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704850" y="6102350"/>
            <a:ext cx="63500" cy="63500"/>
            <a:chOff x="704850" y="6102350"/>
            <a:chExt cx="63500" cy="63500"/>
          </a:xfrm>
        </p:grpSpPr>
        <p:sp>
          <p:nvSpPr>
            <p:cNvPr id="24" name="object 24" descr=""/>
            <p:cNvSpPr/>
            <p:nvPr/>
          </p:nvSpPr>
          <p:spPr>
            <a:xfrm>
              <a:off x="711200" y="61087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11200" y="61087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 descr=""/>
          <p:cNvGrpSpPr/>
          <p:nvPr/>
        </p:nvGrpSpPr>
        <p:grpSpPr>
          <a:xfrm>
            <a:off x="704850" y="7435850"/>
            <a:ext cx="63500" cy="63500"/>
            <a:chOff x="704850" y="7435850"/>
            <a:chExt cx="63500" cy="63500"/>
          </a:xfrm>
        </p:grpSpPr>
        <p:sp>
          <p:nvSpPr>
            <p:cNvPr id="27" name="object 27" descr=""/>
            <p:cNvSpPr/>
            <p:nvPr/>
          </p:nvSpPr>
          <p:spPr>
            <a:xfrm>
              <a:off x="711200" y="74422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11200" y="74422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704850" y="8502650"/>
            <a:ext cx="63500" cy="63500"/>
            <a:chOff x="704850" y="8502650"/>
            <a:chExt cx="63500" cy="63500"/>
          </a:xfrm>
        </p:grpSpPr>
        <p:sp>
          <p:nvSpPr>
            <p:cNvPr id="30" name="object 30" descr=""/>
            <p:cNvSpPr/>
            <p:nvPr/>
          </p:nvSpPr>
          <p:spPr>
            <a:xfrm>
              <a:off x="711200" y="85090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11200" y="85090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704850" y="9036050"/>
            <a:ext cx="63500" cy="63500"/>
            <a:chOff x="704850" y="9036050"/>
            <a:chExt cx="63500" cy="63500"/>
          </a:xfrm>
        </p:grpSpPr>
        <p:sp>
          <p:nvSpPr>
            <p:cNvPr id="33" name="object 33" descr=""/>
            <p:cNvSpPr/>
            <p:nvPr/>
          </p:nvSpPr>
          <p:spPr>
            <a:xfrm>
              <a:off x="711200" y="90424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11200" y="90424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5" name="object 3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823" y="214586"/>
            <a:ext cx="1418676" cy="429030"/>
          </a:xfrm>
          <a:prstGeom prst="rect">
            <a:avLst/>
          </a:prstGeom>
        </p:spPr>
      </p:pic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10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  <p:sp>
        <p:nvSpPr>
          <p:cNvPr id="37" name="object 37" descr=""/>
          <p:cNvSpPr txBox="1"/>
          <p:nvPr/>
        </p:nvSpPr>
        <p:spPr>
          <a:xfrm>
            <a:off x="2068309" y="10070131"/>
            <a:ext cx="2965450" cy="1733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20" b="1">
                <a:latin typeface="Cambria"/>
                <a:cs typeface="Cambria"/>
              </a:rPr>
              <a:t>Material</a:t>
            </a:r>
            <a:r>
              <a:rPr dirty="0" sz="1000" spc="220" b="1">
                <a:latin typeface="Cambria"/>
                <a:cs typeface="Cambria"/>
              </a:rPr>
              <a:t> </a:t>
            </a:r>
            <a:r>
              <a:rPr dirty="0" sz="1000" spc="20" b="1">
                <a:latin typeface="Cambria"/>
                <a:cs typeface="Cambria"/>
              </a:rPr>
              <a:t>downloaded</a:t>
            </a:r>
            <a:r>
              <a:rPr dirty="0" sz="1000" spc="240" b="1">
                <a:latin typeface="Cambria"/>
                <a:cs typeface="Cambria"/>
              </a:rPr>
              <a:t> </a:t>
            </a:r>
            <a:r>
              <a:rPr dirty="0" sz="1000" spc="60" b="1">
                <a:latin typeface="Cambria"/>
                <a:cs typeface="Cambria"/>
              </a:rPr>
              <a:t>from</a:t>
            </a:r>
            <a:r>
              <a:rPr dirty="0" sz="1000" spc="204" b="1">
                <a:latin typeface="Cambria"/>
                <a:cs typeface="Cambria"/>
              </a:rPr>
              <a:t> </a:t>
            </a:r>
            <a:r>
              <a:rPr dirty="0" u="sng" sz="1000" spc="-10" b="1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Arial"/>
                <a:cs typeface="Arial"/>
                <a:hlinkClick r:id="rId4"/>
              </a:rPr>
              <a:t>www.vidyakul.com</a:t>
            </a:r>
            <a:r>
              <a:rPr dirty="0" sz="1000" spc="-10" b="1">
                <a:latin typeface="Cambria"/>
                <a:cs typeface="Cambria"/>
                <a:hlinkClick r:id="rId4"/>
              </a:rPr>
              <a:t>.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04850" y="1047750"/>
            <a:ext cx="63500" cy="63500"/>
            <a:chOff x="704850" y="1047750"/>
            <a:chExt cx="63500" cy="63500"/>
          </a:xfrm>
        </p:grpSpPr>
        <p:sp>
          <p:nvSpPr>
            <p:cNvPr id="3" name="object 3" descr=""/>
            <p:cNvSpPr/>
            <p:nvPr/>
          </p:nvSpPr>
          <p:spPr>
            <a:xfrm>
              <a:off x="711200" y="10541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11200" y="10541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381000" y="965200"/>
            <a:ext cx="6684009" cy="1579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700">
              <a:lnSpc>
                <a:spcPct val="100000"/>
              </a:lnSpc>
              <a:spcBef>
                <a:spcPts val="100"/>
              </a:spcBef>
            </a:pPr>
            <a:r>
              <a:rPr dirty="0" sz="1200" spc="65">
                <a:latin typeface="Cambria"/>
                <a:cs typeface="Cambria"/>
              </a:rPr>
              <a:t>Female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sex </a:t>
            </a:r>
            <a:r>
              <a:rPr dirty="0" sz="1200" spc="65">
                <a:latin typeface="Cambria"/>
                <a:cs typeface="Cambria"/>
              </a:rPr>
              <a:t>hormones</a:t>
            </a:r>
            <a:r>
              <a:rPr dirty="0" sz="1200" spc="60">
                <a:latin typeface="Cambria"/>
                <a:cs typeface="Cambria"/>
              </a:rPr>
              <a:t> are </a:t>
            </a:r>
            <a:r>
              <a:rPr dirty="0" sz="1200" spc="45">
                <a:latin typeface="Cambria"/>
                <a:cs typeface="Cambria"/>
              </a:rPr>
              <a:t>oestrogen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progesterone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60">
                <a:latin typeface="Cambria"/>
                <a:cs typeface="Cambria"/>
              </a:rPr>
              <a:t> are produced </a:t>
            </a:r>
            <a:r>
              <a:rPr dirty="0" sz="1200" spc="65">
                <a:latin typeface="Cambria"/>
                <a:cs typeface="Cambria"/>
              </a:rPr>
              <a:t>by</a:t>
            </a:r>
            <a:r>
              <a:rPr dirty="0" sz="1200" spc="60">
                <a:latin typeface="Cambria"/>
                <a:cs typeface="Cambria"/>
              </a:rPr>
              <a:t> ovary.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200" spc="50" b="1">
                <a:latin typeface="Cambria"/>
                <a:cs typeface="Cambria"/>
              </a:rPr>
              <a:t>Reprocutive</a:t>
            </a:r>
            <a:r>
              <a:rPr dirty="0" sz="1200" spc="95" b="1">
                <a:latin typeface="Cambria"/>
                <a:cs typeface="Cambria"/>
              </a:rPr>
              <a:t> </a:t>
            </a:r>
            <a:r>
              <a:rPr dirty="0" sz="1200" spc="45" b="1">
                <a:latin typeface="Cambria"/>
                <a:cs typeface="Cambria"/>
              </a:rPr>
              <a:t>Health:</a:t>
            </a:r>
            <a:endParaRPr sz="1200">
              <a:latin typeface="Cambria"/>
              <a:cs typeface="Cambria"/>
            </a:endParaRPr>
          </a:p>
          <a:p>
            <a:pPr marL="518795" marR="379730" indent="-213995">
              <a:lnSpc>
                <a:spcPct val="145800"/>
              </a:lnSpc>
              <a:spcBef>
                <a:spcPts val="1200"/>
              </a:spcBef>
              <a:buAutoNum type="alphaLcPeriod"/>
              <a:tabLst>
                <a:tab pos="520700" algn="l"/>
              </a:tabLst>
            </a:pPr>
            <a:r>
              <a:rPr dirty="0" sz="1200" spc="55">
                <a:latin typeface="Cambria"/>
                <a:cs typeface="Cambria"/>
              </a:rPr>
              <a:t>Reproductive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Health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means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total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well-</a:t>
            </a:r>
            <a:r>
              <a:rPr dirty="0" sz="1200" spc="60">
                <a:latin typeface="Cambria"/>
                <a:cs typeface="Cambria"/>
              </a:rPr>
              <a:t>being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all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aspects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reproductive,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i.e., </a:t>
            </a:r>
            <a:r>
              <a:rPr dirty="0" sz="1200" spc="50">
                <a:latin typeface="Cambria"/>
                <a:cs typeface="Cambria"/>
              </a:rPr>
              <a:t>	</a:t>
            </a:r>
            <a:r>
              <a:rPr dirty="0" sz="1200" spc="55">
                <a:latin typeface="Cambria"/>
                <a:cs typeface="Cambria"/>
              </a:rPr>
              <a:t>physical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emotional,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social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13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behavioural.</a:t>
            </a:r>
            <a:endParaRPr sz="1200">
              <a:latin typeface="Cambria"/>
              <a:cs typeface="Cambria"/>
            </a:endParaRPr>
          </a:p>
          <a:p>
            <a:pPr marL="518795" indent="-226695">
              <a:lnSpc>
                <a:spcPct val="100000"/>
              </a:lnSpc>
              <a:spcBef>
                <a:spcPts val="660"/>
              </a:spcBef>
              <a:buFont typeface="Cambria"/>
              <a:buAutoNum type="alphaLcPeriod"/>
              <a:tabLst>
                <a:tab pos="518795" algn="l"/>
              </a:tabLst>
            </a:pPr>
            <a:r>
              <a:rPr dirty="0" sz="1200" spc="55" b="1">
                <a:latin typeface="Cambria"/>
                <a:cs typeface="Cambria"/>
              </a:rPr>
              <a:t>Contraception</a:t>
            </a:r>
            <a:r>
              <a:rPr dirty="0" sz="1200" spc="70" b="1">
                <a:latin typeface="Cambria"/>
                <a:cs typeface="Cambria"/>
              </a:rPr>
              <a:t> </a:t>
            </a:r>
            <a:r>
              <a:rPr dirty="0" sz="1200" b="1">
                <a:latin typeface="Cambria"/>
                <a:cs typeface="Cambria"/>
              </a:rPr>
              <a:t>:</a:t>
            </a:r>
            <a:r>
              <a:rPr dirty="0" sz="1200" spc="75" b="1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avoidance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70">
                <a:latin typeface="Cambria"/>
                <a:cs typeface="Cambria"/>
              </a:rPr>
              <a:t> pregnancy.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It</a:t>
            </a:r>
            <a:r>
              <a:rPr dirty="0" sz="1200" spc="75">
                <a:latin typeface="Cambria"/>
                <a:cs typeface="Cambria"/>
              </a:rPr>
              <a:t> can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be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achieved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700" y="2578100"/>
            <a:ext cx="5283200" cy="243840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85800" y="5034279"/>
            <a:ext cx="632396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900" marR="5080" indent="-203200">
              <a:lnSpc>
                <a:spcPct val="145800"/>
              </a:lnSpc>
              <a:spcBef>
                <a:spcPts val="100"/>
              </a:spcBef>
            </a:pPr>
            <a:r>
              <a:rPr dirty="0" sz="1200">
                <a:latin typeface="Cambria"/>
                <a:cs typeface="Cambria"/>
              </a:rPr>
              <a:t>c.</a:t>
            </a:r>
            <a:r>
              <a:rPr dirty="0" sz="1200" spc="165">
                <a:latin typeface="Cambria"/>
                <a:cs typeface="Cambria"/>
              </a:rPr>
              <a:t>  </a:t>
            </a:r>
            <a:r>
              <a:rPr dirty="0" sz="1200" spc="65">
                <a:latin typeface="Cambria"/>
                <a:cs typeface="Cambria"/>
              </a:rPr>
              <a:t>Healthy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society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needs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balanced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sex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ratio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that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can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be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achieved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by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educating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people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60">
                <a:latin typeface="Cambria"/>
                <a:cs typeface="Cambria"/>
              </a:rPr>
              <a:t> avoid </a:t>
            </a:r>
            <a:r>
              <a:rPr dirty="0" sz="1200" spc="55">
                <a:latin typeface="Cambria"/>
                <a:cs typeface="Cambria"/>
              </a:rPr>
              <a:t>malpractices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like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female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foeticide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&amp;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prenatal sex </a:t>
            </a:r>
            <a:r>
              <a:rPr dirty="0" sz="1200" spc="50">
                <a:latin typeface="Cambria"/>
                <a:cs typeface="Cambria"/>
              </a:rPr>
              <a:t>determination.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700" y="5626100"/>
            <a:ext cx="4876800" cy="1016000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704850" y="7385050"/>
            <a:ext cx="63500" cy="63500"/>
            <a:chOff x="704850" y="7385050"/>
            <a:chExt cx="63500" cy="63500"/>
          </a:xfrm>
        </p:grpSpPr>
        <p:sp>
          <p:nvSpPr>
            <p:cNvPr id="10" name="object 10" descr=""/>
            <p:cNvSpPr/>
            <p:nvPr/>
          </p:nvSpPr>
          <p:spPr>
            <a:xfrm>
              <a:off x="711200" y="73914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11200" y="73914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704850" y="7918450"/>
            <a:ext cx="63500" cy="63500"/>
            <a:chOff x="704850" y="7918450"/>
            <a:chExt cx="63500" cy="63500"/>
          </a:xfrm>
        </p:grpSpPr>
        <p:sp>
          <p:nvSpPr>
            <p:cNvPr id="13" name="object 13" descr=""/>
            <p:cNvSpPr/>
            <p:nvPr/>
          </p:nvSpPr>
          <p:spPr>
            <a:xfrm>
              <a:off x="711200" y="7924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11200" y="7924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704850" y="8451850"/>
            <a:ext cx="63500" cy="63500"/>
            <a:chOff x="704850" y="8451850"/>
            <a:chExt cx="63500" cy="63500"/>
          </a:xfrm>
        </p:grpSpPr>
        <p:sp>
          <p:nvSpPr>
            <p:cNvPr id="16" name="object 16" descr=""/>
            <p:cNvSpPr/>
            <p:nvPr/>
          </p:nvSpPr>
          <p:spPr>
            <a:xfrm>
              <a:off x="711200" y="84582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11200" y="84582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704850" y="8985250"/>
            <a:ext cx="63500" cy="63500"/>
            <a:chOff x="704850" y="8985250"/>
            <a:chExt cx="63500" cy="63500"/>
          </a:xfrm>
        </p:grpSpPr>
        <p:sp>
          <p:nvSpPr>
            <p:cNvPr id="19" name="object 19" descr=""/>
            <p:cNvSpPr/>
            <p:nvPr/>
          </p:nvSpPr>
          <p:spPr>
            <a:xfrm>
              <a:off x="711200" y="89916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11200" y="89916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704850" y="9251950"/>
            <a:ext cx="63500" cy="63500"/>
            <a:chOff x="704850" y="9251950"/>
            <a:chExt cx="63500" cy="63500"/>
          </a:xfrm>
        </p:grpSpPr>
        <p:sp>
          <p:nvSpPr>
            <p:cNvPr id="22" name="object 22" descr=""/>
            <p:cNvSpPr/>
            <p:nvPr/>
          </p:nvSpPr>
          <p:spPr>
            <a:xfrm>
              <a:off x="711200" y="9258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11200" y="9258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381000" y="6883400"/>
            <a:ext cx="6720205" cy="2760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80" b="1">
                <a:latin typeface="Cambria"/>
                <a:cs typeface="Cambria"/>
              </a:rPr>
              <a:t>What</a:t>
            </a:r>
            <a:r>
              <a:rPr dirty="0" sz="1200" spc="45" b="1">
                <a:latin typeface="Cambria"/>
                <a:cs typeface="Cambria"/>
              </a:rPr>
              <a:t> </a:t>
            </a:r>
            <a:r>
              <a:rPr dirty="0" sz="1200" spc="55" b="1">
                <a:latin typeface="Cambria"/>
                <a:cs typeface="Cambria"/>
              </a:rPr>
              <a:t>you</a:t>
            </a:r>
            <a:r>
              <a:rPr dirty="0" sz="1200" spc="50" b="1">
                <a:latin typeface="Cambria"/>
                <a:cs typeface="Cambria"/>
              </a:rPr>
              <a:t> </a:t>
            </a:r>
            <a:r>
              <a:rPr dirty="0" sz="1200" spc="70" b="1">
                <a:latin typeface="Cambria"/>
                <a:cs typeface="Cambria"/>
              </a:rPr>
              <a:t>have</a:t>
            </a:r>
            <a:r>
              <a:rPr dirty="0" sz="1200" spc="50" b="1">
                <a:latin typeface="Cambria"/>
                <a:cs typeface="Cambria"/>
              </a:rPr>
              <a:t> </a:t>
            </a:r>
            <a:r>
              <a:rPr dirty="0" sz="1200" spc="45" b="1">
                <a:latin typeface="Cambria"/>
                <a:cs typeface="Cambria"/>
              </a:rPr>
              <a:t>learnt</a:t>
            </a:r>
            <a:endParaRPr sz="1200">
              <a:latin typeface="Cambria"/>
              <a:cs typeface="Cambria"/>
            </a:endParaRPr>
          </a:p>
          <a:p>
            <a:pPr marL="520700" marR="241935">
              <a:lnSpc>
                <a:spcPct val="145800"/>
              </a:lnSpc>
              <a:spcBef>
                <a:spcPts val="1200"/>
              </a:spcBef>
            </a:pPr>
            <a:r>
              <a:rPr dirty="0" sz="1200" spc="50">
                <a:latin typeface="Cambria"/>
                <a:cs typeface="Cambria"/>
              </a:rPr>
              <a:t>Reproduction,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unlike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other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life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20">
                <a:latin typeface="Cambria"/>
                <a:cs typeface="Cambria"/>
              </a:rPr>
              <a:t>processes,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20">
                <a:latin typeface="Cambria"/>
                <a:cs typeface="Cambria"/>
              </a:rPr>
              <a:t>is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not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essential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20">
                <a:latin typeface="Cambria"/>
                <a:cs typeface="Cambria"/>
              </a:rPr>
              <a:t>to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maintain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life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an individual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organism.</a:t>
            </a:r>
            <a:endParaRPr sz="1200">
              <a:latin typeface="Cambria"/>
              <a:cs typeface="Cambria"/>
            </a:endParaRPr>
          </a:p>
          <a:p>
            <a:pPr marL="520700" marR="165735">
              <a:lnSpc>
                <a:spcPct val="145800"/>
              </a:lnSpc>
            </a:pPr>
            <a:r>
              <a:rPr dirty="0" sz="1200" spc="55">
                <a:latin typeface="Cambria"/>
                <a:cs typeface="Cambria"/>
              </a:rPr>
              <a:t>Reproduction involves creation</a:t>
            </a:r>
            <a:r>
              <a:rPr dirty="0" sz="1200" spc="60">
                <a:latin typeface="Cambria"/>
                <a:cs typeface="Cambria"/>
              </a:rPr>
              <a:t> of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DNA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copy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55">
                <a:latin typeface="Cambria"/>
                <a:cs typeface="Cambria"/>
              </a:rPr>
              <a:t> additional cellular</a:t>
            </a:r>
            <a:r>
              <a:rPr dirty="0" sz="1200" spc="60">
                <a:latin typeface="Cambria"/>
                <a:cs typeface="Cambria"/>
              </a:rPr>
              <a:t> apparatus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by </a:t>
            </a:r>
            <a:r>
              <a:rPr dirty="0" sz="1200" spc="50">
                <a:latin typeface="Cambria"/>
                <a:cs typeface="Cambria"/>
              </a:rPr>
              <a:t>the cell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involved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process.</a:t>
            </a:r>
            <a:endParaRPr sz="1200">
              <a:latin typeface="Cambria"/>
              <a:cs typeface="Cambria"/>
            </a:endParaRPr>
          </a:p>
          <a:p>
            <a:pPr marL="520700" marR="342265">
              <a:lnSpc>
                <a:spcPct val="145800"/>
              </a:lnSpc>
            </a:pPr>
            <a:r>
              <a:rPr dirty="0" sz="1200" spc="55">
                <a:latin typeface="Cambria"/>
                <a:cs typeface="Cambria"/>
              </a:rPr>
              <a:t>Various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organisms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use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different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modes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reproduction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depending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on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their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body </a:t>
            </a:r>
            <a:r>
              <a:rPr dirty="0" sz="1200" spc="45">
                <a:latin typeface="Cambria"/>
                <a:cs typeface="Cambria"/>
              </a:rPr>
              <a:t>design.</a:t>
            </a:r>
            <a:endParaRPr sz="1200">
              <a:latin typeface="Cambria"/>
              <a:cs typeface="Cambria"/>
            </a:endParaRPr>
          </a:p>
          <a:p>
            <a:pPr algn="just" marL="520700" marR="5080">
              <a:lnSpc>
                <a:spcPct val="145800"/>
              </a:lnSpc>
            </a:pPr>
            <a:r>
              <a:rPr dirty="0" sz="1200" spc="70">
                <a:latin typeface="Cambria"/>
                <a:cs typeface="Cambria"/>
              </a:rPr>
              <a:t>In </a:t>
            </a:r>
            <a:r>
              <a:rPr dirty="0" sz="1200" spc="45">
                <a:latin typeface="Cambria"/>
                <a:cs typeface="Cambria"/>
              </a:rPr>
              <a:t>fission,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90">
                <a:latin typeface="Cambria"/>
                <a:cs typeface="Cambria"/>
              </a:rPr>
              <a:t>many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bacteria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 </a:t>
            </a:r>
            <a:r>
              <a:rPr dirty="0" sz="1200" spc="50">
                <a:latin typeface="Cambria"/>
                <a:cs typeface="Cambria"/>
              </a:rPr>
              <a:t>protozoa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simply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divide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into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two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or</a:t>
            </a:r>
            <a:r>
              <a:rPr dirty="0" sz="1200" spc="7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more </a:t>
            </a:r>
            <a:r>
              <a:rPr dirty="0" sz="1200" spc="60">
                <a:latin typeface="Cambria"/>
                <a:cs typeface="Cambria"/>
              </a:rPr>
              <a:t>daughter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cells. </a:t>
            </a:r>
            <a:r>
              <a:rPr dirty="0" sz="1200" spc="65">
                <a:latin typeface="Cambria"/>
                <a:cs typeface="Cambria"/>
              </a:rPr>
              <a:t>Organisms such </a:t>
            </a:r>
            <a:r>
              <a:rPr dirty="0" sz="1200" spc="50">
                <a:latin typeface="Cambria"/>
                <a:cs typeface="Cambria"/>
              </a:rPr>
              <a:t>as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hydra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can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regenerate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if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they</a:t>
            </a:r>
            <a:r>
              <a:rPr dirty="0" sz="1200" spc="7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are</a:t>
            </a:r>
            <a:r>
              <a:rPr dirty="0" sz="1200" spc="65">
                <a:latin typeface="Cambria"/>
                <a:cs typeface="Cambria"/>
              </a:rPr>
              <a:t> broken </a:t>
            </a:r>
            <a:r>
              <a:rPr dirty="0" sz="1200">
                <a:latin typeface="Cambria"/>
                <a:cs typeface="Cambria"/>
              </a:rPr>
              <a:t>into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pieces.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They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can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-20">
                <a:latin typeface="Cambria"/>
                <a:cs typeface="Cambria"/>
              </a:rPr>
              <a:t>also </a:t>
            </a:r>
            <a:r>
              <a:rPr dirty="0" sz="1200" spc="55">
                <a:latin typeface="Cambria"/>
                <a:cs typeface="Cambria"/>
              </a:rPr>
              <a:t>give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out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buds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mature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into</a:t>
            </a:r>
            <a:r>
              <a:rPr dirty="0" sz="1200" spc="80">
                <a:latin typeface="Cambria"/>
                <a:cs typeface="Cambria"/>
              </a:rPr>
              <a:t> new </a:t>
            </a:r>
            <a:r>
              <a:rPr dirty="0" sz="1200" spc="50">
                <a:latin typeface="Cambria"/>
                <a:cs typeface="Cambria"/>
              </a:rPr>
              <a:t>individuals.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2705" y="217367"/>
            <a:ext cx="1418676" cy="429030"/>
          </a:xfrm>
          <a:prstGeom prst="rect">
            <a:avLst/>
          </a:prstGeom>
        </p:spPr>
      </p:pic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10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  <p:sp>
        <p:nvSpPr>
          <p:cNvPr id="27" name="object 27" descr=""/>
          <p:cNvSpPr txBox="1"/>
          <p:nvPr/>
        </p:nvSpPr>
        <p:spPr>
          <a:xfrm>
            <a:off x="2068309" y="10070131"/>
            <a:ext cx="2965450" cy="1733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20" b="1">
                <a:latin typeface="Cambria"/>
                <a:cs typeface="Cambria"/>
              </a:rPr>
              <a:t>Material</a:t>
            </a:r>
            <a:r>
              <a:rPr dirty="0" sz="1000" spc="220" b="1">
                <a:latin typeface="Cambria"/>
                <a:cs typeface="Cambria"/>
              </a:rPr>
              <a:t> </a:t>
            </a:r>
            <a:r>
              <a:rPr dirty="0" sz="1000" spc="20" b="1">
                <a:latin typeface="Cambria"/>
                <a:cs typeface="Cambria"/>
              </a:rPr>
              <a:t>downloaded</a:t>
            </a:r>
            <a:r>
              <a:rPr dirty="0" sz="1000" spc="240" b="1">
                <a:latin typeface="Cambria"/>
                <a:cs typeface="Cambria"/>
              </a:rPr>
              <a:t> </a:t>
            </a:r>
            <a:r>
              <a:rPr dirty="0" sz="1000" spc="60" b="1">
                <a:latin typeface="Cambria"/>
                <a:cs typeface="Cambria"/>
              </a:rPr>
              <a:t>from</a:t>
            </a:r>
            <a:r>
              <a:rPr dirty="0" sz="1000" spc="204" b="1">
                <a:latin typeface="Cambria"/>
                <a:cs typeface="Cambria"/>
              </a:rPr>
              <a:t> </a:t>
            </a:r>
            <a:r>
              <a:rPr dirty="0" u="sng" sz="1000" spc="-10" b="1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Arial"/>
                <a:cs typeface="Arial"/>
                <a:hlinkClick r:id="rId5"/>
              </a:rPr>
              <a:t>www.vidyakul.com</a:t>
            </a:r>
            <a:r>
              <a:rPr dirty="0" sz="1000" spc="-10" b="1">
                <a:latin typeface="Cambria"/>
                <a:cs typeface="Cambria"/>
                <a:hlinkClick r:id="rId5"/>
              </a:rPr>
              <a:t>.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04850" y="1047750"/>
            <a:ext cx="63500" cy="63500"/>
            <a:chOff x="704850" y="1047750"/>
            <a:chExt cx="63500" cy="63500"/>
          </a:xfrm>
        </p:grpSpPr>
        <p:sp>
          <p:nvSpPr>
            <p:cNvPr id="3" name="object 3" descr=""/>
            <p:cNvSpPr/>
            <p:nvPr/>
          </p:nvSpPr>
          <p:spPr>
            <a:xfrm>
              <a:off x="711200" y="10541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11200" y="10541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889000" y="881380"/>
            <a:ext cx="6256020" cy="535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56540">
              <a:lnSpc>
                <a:spcPct val="145800"/>
              </a:lnSpc>
              <a:spcBef>
                <a:spcPts val="100"/>
              </a:spcBef>
            </a:pPr>
            <a:r>
              <a:rPr dirty="0" sz="1200">
                <a:latin typeface="Cambria"/>
                <a:cs typeface="Cambria"/>
              </a:rPr>
              <a:t>Roots,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stems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leaves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some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plants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develop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into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new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plants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through</a:t>
            </a:r>
            <a:r>
              <a:rPr dirty="0" sz="1200" spc="110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vegetative </a:t>
            </a:r>
            <a:r>
              <a:rPr dirty="0" sz="1200" spc="50">
                <a:latin typeface="Cambria"/>
                <a:cs typeface="Cambria"/>
              </a:rPr>
              <a:t>propagation.</a:t>
            </a:r>
            <a:endParaRPr sz="1200">
              <a:latin typeface="Cambria"/>
              <a:cs typeface="Cambria"/>
            </a:endParaRPr>
          </a:p>
          <a:p>
            <a:pPr marL="12700" marR="20320">
              <a:lnSpc>
                <a:spcPct val="145800"/>
              </a:lnSpc>
            </a:pPr>
            <a:r>
              <a:rPr dirty="0" sz="1200">
                <a:latin typeface="Cambria"/>
                <a:cs typeface="Cambria"/>
              </a:rPr>
              <a:t>These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are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examples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asexual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reproduction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where</a:t>
            </a:r>
            <a:r>
              <a:rPr dirty="0" sz="1200" spc="80">
                <a:latin typeface="Cambria"/>
                <a:cs typeface="Cambria"/>
              </a:rPr>
              <a:t> new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generations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are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created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from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19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single</a:t>
            </a:r>
            <a:r>
              <a:rPr dirty="0" sz="1200" spc="1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individual.</a:t>
            </a:r>
            <a:endParaRPr sz="1200">
              <a:latin typeface="Cambria"/>
              <a:cs typeface="Cambria"/>
            </a:endParaRPr>
          </a:p>
          <a:p>
            <a:pPr marL="12700" marR="16510">
              <a:lnSpc>
                <a:spcPct val="145800"/>
              </a:lnSpc>
            </a:pPr>
            <a:r>
              <a:rPr dirty="0" sz="1200" spc="70">
                <a:latin typeface="Cambria"/>
                <a:cs typeface="Cambria"/>
              </a:rPr>
              <a:t>Sexual</a:t>
            </a:r>
            <a:r>
              <a:rPr dirty="0" sz="1200" spc="55">
                <a:latin typeface="Cambria"/>
                <a:cs typeface="Cambria"/>
              </a:rPr>
              <a:t> reproduction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involves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two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individuals</a:t>
            </a:r>
            <a:r>
              <a:rPr dirty="0" sz="1200" spc="60">
                <a:latin typeface="Cambria"/>
                <a:cs typeface="Cambria"/>
              </a:rPr>
              <a:t> for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creation</a:t>
            </a:r>
            <a:r>
              <a:rPr dirty="0" sz="1200" spc="60">
                <a:latin typeface="Cambria"/>
                <a:cs typeface="Cambria"/>
              </a:rPr>
              <a:t> of </a:t>
            </a:r>
            <a:r>
              <a:rPr dirty="0" sz="1200" spc="80">
                <a:latin typeface="Cambria"/>
                <a:cs typeface="Cambria"/>
              </a:rPr>
              <a:t>a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new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individual. </a:t>
            </a:r>
            <a:r>
              <a:rPr dirty="0" sz="1200" spc="80">
                <a:latin typeface="Cambria"/>
                <a:cs typeface="Cambria"/>
              </a:rPr>
              <a:t>DNA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copying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mechanisms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creates</a:t>
            </a:r>
            <a:r>
              <a:rPr dirty="0" sz="1200" spc="55">
                <a:latin typeface="Cambria"/>
                <a:cs typeface="Cambria"/>
              </a:rPr>
              <a:t> variations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are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useful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for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ensuring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25">
                <a:latin typeface="Cambria"/>
                <a:cs typeface="Cambria"/>
              </a:rPr>
              <a:t>the </a:t>
            </a:r>
            <a:r>
              <a:rPr dirty="0" sz="1200" spc="60">
                <a:latin typeface="Cambria"/>
                <a:cs typeface="Cambria"/>
              </a:rPr>
              <a:t>survival of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species.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Modes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65">
                <a:latin typeface="Cambria"/>
                <a:cs typeface="Cambria"/>
              </a:rPr>
              <a:t> sexual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reproduction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allow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for </a:t>
            </a:r>
            <a:r>
              <a:rPr dirty="0" sz="1200" spc="50">
                <a:latin typeface="Cambria"/>
                <a:cs typeface="Cambria"/>
              </a:rPr>
              <a:t>greater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variation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35">
                <a:latin typeface="Cambria"/>
                <a:cs typeface="Cambria"/>
              </a:rPr>
              <a:t>be </a:t>
            </a:r>
            <a:r>
              <a:rPr dirty="0" sz="1200" spc="50">
                <a:latin typeface="Cambria"/>
                <a:cs typeface="Cambria"/>
              </a:rPr>
              <a:t>generated.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45800"/>
              </a:lnSpc>
            </a:pPr>
            <a:r>
              <a:rPr dirty="0" sz="1200" spc="55">
                <a:latin typeface="Cambria"/>
                <a:cs typeface="Cambria"/>
              </a:rPr>
              <a:t>Reproduction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flowering </a:t>
            </a:r>
            <a:r>
              <a:rPr dirty="0" sz="1200" spc="50">
                <a:latin typeface="Cambria"/>
                <a:cs typeface="Cambria"/>
              </a:rPr>
              <a:t>plants</a:t>
            </a:r>
            <a:r>
              <a:rPr dirty="0" sz="1200" spc="55">
                <a:latin typeface="Cambria"/>
                <a:cs typeface="Cambria"/>
              </a:rPr>
              <a:t> involves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transfer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55">
                <a:latin typeface="Cambria"/>
                <a:cs typeface="Cambria"/>
              </a:rPr>
              <a:t> pollen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grains </a:t>
            </a:r>
            <a:r>
              <a:rPr dirty="0" sz="1200" spc="75">
                <a:latin typeface="Cambria"/>
                <a:cs typeface="Cambria"/>
              </a:rPr>
              <a:t>from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anther </a:t>
            </a:r>
            <a:r>
              <a:rPr dirty="0" sz="1200" spc="-25">
                <a:latin typeface="Cambria"/>
                <a:cs typeface="Cambria"/>
              </a:rPr>
              <a:t>to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stigma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referred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as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pollination.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This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followed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by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40">
                <a:latin typeface="Cambria"/>
                <a:cs typeface="Cambria"/>
              </a:rPr>
              <a:t>fertilisation.</a:t>
            </a:r>
            <a:endParaRPr sz="1200">
              <a:latin typeface="Cambria"/>
              <a:cs typeface="Cambria"/>
            </a:endParaRPr>
          </a:p>
          <a:p>
            <a:pPr marL="12700" marR="71755">
              <a:lnSpc>
                <a:spcPct val="145800"/>
              </a:lnSpc>
            </a:pPr>
            <a:r>
              <a:rPr dirty="0" sz="1200" spc="60">
                <a:latin typeface="Cambria"/>
                <a:cs typeface="Cambria"/>
              </a:rPr>
              <a:t>Changes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body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at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puberty,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such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as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increase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breast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size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girls</a:t>
            </a:r>
            <a:r>
              <a:rPr dirty="0" sz="1200" spc="10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80">
                <a:latin typeface="Cambria"/>
                <a:cs typeface="Cambria"/>
              </a:rPr>
              <a:t>new</a:t>
            </a:r>
            <a:r>
              <a:rPr dirty="0" sz="1200" spc="10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facial </a:t>
            </a:r>
            <a:r>
              <a:rPr dirty="0" sz="1200" spc="65">
                <a:latin typeface="Cambria"/>
                <a:cs typeface="Cambria"/>
              </a:rPr>
              <a:t>hair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growth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boys,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are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signs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sexual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maturation.</a:t>
            </a:r>
            <a:endParaRPr sz="1200">
              <a:latin typeface="Cambria"/>
              <a:cs typeface="Cambria"/>
            </a:endParaRPr>
          </a:p>
          <a:p>
            <a:pPr marL="12700" marR="415925">
              <a:lnSpc>
                <a:spcPct val="145800"/>
              </a:lnSpc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male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reproductive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system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90">
                <a:latin typeface="Cambria"/>
                <a:cs typeface="Cambria"/>
              </a:rPr>
              <a:t> human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beings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consists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testes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which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produce </a:t>
            </a:r>
            <a:r>
              <a:rPr dirty="0" sz="1200" spc="55">
                <a:latin typeface="Cambria"/>
                <a:cs typeface="Cambria"/>
              </a:rPr>
              <a:t>sperms,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vas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deferens,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seminal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vesicles,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prostate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gland,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urethra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9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penis.</a:t>
            </a:r>
            <a:endParaRPr sz="1200">
              <a:latin typeface="Cambria"/>
              <a:cs typeface="Cambria"/>
            </a:endParaRPr>
          </a:p>
          <a:p>
            <a:pPr marL="12700" marR="81280">
              <a:lnSpc>
                <a:spcPct val="145800"/>
              </a:lnSpc>
            </a:pP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female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reproductive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system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90">
                <a:latin typeface="Cambria"/>
                <a:cs typeface="Cambria"/>
              </a:rPr>
              <a:t>human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beings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consists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ovaries,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fallopian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tubes, </a:t>
            </a:r>
            <a:r>
              <a:rPr dirty="0" sz="1200" spc="50">
                <a:latin typeface="Cambria"/>
                <a:cs typeface="Cambria"/>
              </a:rPr>
              <a:t>uterus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vagina.</a:t>
            </a:r>
            <a:endParaRPr sz="1200">
              <a:latin typeface="Cambria"/>
              <a:cs typeface="Cambria"/>
            </a:endParaRPr>
          </a:p>
          <a:p>
            <a:pPr marL="12700" marR="483234">
              <a:lnSpc>
                <a:spcPct val="145800"/>
              </a:lnSpc>
            </a:pPr>
            <a:r>
              <a:rPr dirty="0" sz="1200" spc="70">
                <a:latin typeface="Cambria"/>
                <a:cs typeface="Cambria"/>
              </a:rPr>
              <a:t>Sexual</a:t>
            </a:r>
            <a:r>
              <a:rPr dirty="0" sz="1200" spc="55">
                <a:latin typeface="Cambria"/>
                <a:cs typeface="Cambria"/>
              </a:rPr>
              <a:t> reproduction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90">
                <a:latin typeface="Cambria"/>
                <a:cs typeface="Cambria"/>
              </a:rPr>
              <a:t>human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beings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involves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introduction </a:t>
            </a:r>
            <a:r>
              <a:rPr dirty="0" sz="1200" spc="60">
                <a:latin typeface="Cambria"/>
                <a:cs typeface="Cambria"/>
              </a:rPr>
              <a:t>of </a:t>
            </a:r>
            <a:r>
              <a:rPr dirty="0" sz="1200" spc="65">
                <a:latin typeface="Cambria"/>
                <a:cs typeface="Cambria"/>
              </a:rPr>
              <a:t>sperm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25">
                <a:latin typeface="Cambria"/>
                <a:cs typeface="Cambria"/>
              </a:rPr>
              <a:t>the </a:t>
            </a:r>
            <a:r>
              <a:rPr dirty="0" sz="1200" spc="70">
                <a:latin typeface="Cambria"/>
                <a:cs typeface="Cambria"/>
              </a:rPr>
              <a:t>vagina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of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female.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45">
                <a:latin typeface="Cambria"/>
                <a:cs typeface="Cambria"/>
              </a:rPr>
              <a:t>Fertilisation</a:t>
            </a:r>
            <a:r>
              <a:rPr dirty="0" sz="1200" spc="55">
                <a:latin typeface="Cambria"/>
                <a:cs typeface="Cambria"/>
              </a:rPr>
              <a:t> occurs </a:t>
            </a:r>
            <a:r>
              <a:rPr dirty="0" sz="1200" spc="65">
                <a:latin typeface="Cambria"/>
                <a:cs typeface="Cambria"/>
              </a:rPr>
              <a:t>in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fallopian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tube.</a:t>
            </a:r>
            <a:endParaRPr sz="1200">
              <a:latin typeface="Cambria"/>
              <a:cs typeface="Cambria"/>
            </a:endParaRPr>
          </a:p>
          <a:p>
            <a:pPr marL="12700" marR="160020">
              <a:lnSpc>
                <a:spcPct val="145800"/>
              </a:lnSpc>
              <a:spcBef>
                <a:spcPts val="5"/>
              </a:spcBef>
            </a:pPr>
            <a:r>
              <a:rPr dirty="0" sz="1200" spc="55">
                <a:latin typeface="Cambria"/>
                <a:cs typeface="Cambria"/>
              </a:rPr>
              <a:t>Contraception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to</a:t>
            </a:r>
            <a:r>
              <a:rPr dirty="0" sz="1200" spc="60">
                <a:latin typeface="Cambria"/>
                <a:cs typeface="Cambria"/>
              </a:rPr>
              <a:t> avoid</a:t>
            </a:r>
            <a:r>
              <a:rPr dirty="0" sz="1200" spc="65">
                <a:latin typeface="Cambria"/>
                <a:cs typeface="Cambria"/>
              </a:rPr>
              <a:t> pregnancy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can</a:t>
            </a:r>
            <a:r>
              <a:rPr dirty="0" sz="1200" spc="60">
                <a:latin typeface="Cambria"/>
                <a:cs typeface="Cambria"/>
              </a:rPr>
              <a:t> be</a:t>
            </a:r>
            <a:r>
              <a:rPr dirty="0" sz="1200" spc="65">
                <a:latin typeface="Cambria"/>
                <a:cs typeface="Cambria"/>
              </a:rPr>
              <a:t> achieved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65">
                <a:latin typeface="Cambria"/>
                <a:cs typeface="Cambria"/>
              </a:rPr>
              <a:t>by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the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use</a:t>
            </a:r>
            <a:r>
              <a:rPr dirty="0" sz="1200" spc="60">
                <a:latin typeface="Cambria"/>
                <a:cs typeface="Cambria"/>
              </a:rPr>
              <a:t> of condoms,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oral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pills, </a:t>
            </a:r>
            <a:r>
              <a:rPr dirty="0" sz="1200" spc="45">
                <a:latin typeface="Cambria"/>
                <a:cs typeface="Cambria"/>
              </a:rPr>
              <a:t>copper-</a:t>
            </a:r>
            <a:r>
              <a:rPr dirty="0" sz="1200">
                <a:latin typeface="Cambria"/>
                <a:cs typeface="Cambria"/>
              </a:rPr>
              <a:t>T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and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other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methods.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04850" y="1581150"/>
            <a:ext cx="63500" cy="63500"/>
            <a:chOff x="704850" y="1581150"/>
            <a:chExt cx="63500" cy="63500"/>
          </a:xfrm>
        </p:grpSpPr>
        <p:sp>
          <p:nvSpPr>
            <p:cNvPr id="7" name="object 7" descr=""/>
            <p:cNvSpPr/>
            <p:nvPr/>
          </p:nvSpPr>
          <p:spPr>
            <a:xfrm>
              <a:off x="711200" y="15875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11200" y="15875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704850" y="2114550"/>
            <a:ext cx="63500" cy="63500"/>
            <a:chOff x="704850" y="2114550"/>
            <a:chExt cx="63500" cy="63500"/>
          </a:xfrm>
        </p:grpSpPr>
        <p:sp>
          <p:nvSpPr>
            <p:cNvPr id="10" name="object 10" descr=""/>
            <p:cNvSpPr/>
            <p:nvPr/>
          </p:nvSpPr>
          <p:spPr>
            <a:xfrm>
              <a:off x="711200" y="21209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11200" y="21209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704850" y="2381250"/>
            <a:ext cx="63500" cy="63500"/>
            <a:chOff x="704850" y="2381250"/>
            <a:chExt cx="63500" cy="63500"/>
          </a:xfrm>
        </p:grpSpPr>
        <p:sp>
          <p:nvSpPr>
            <p:cNvPr id="13" name="object 13" descr=""/>
            <p:cNvSpPr/>
            <p:nvPr/>
          </p:nvSpPr>
          <p:spPr>
            <a:xfrm>
              <a:off x="711200" y="23876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11200" y="23876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704850" y="3181350"/>
            <a:ext cx="63500" cy="63500"/>
            <a:chOff x="704850" y="3181350"/>
            <a:chExt cx="63500" cy="63500"/>
          </a:xfrm>
        </p:grpSpPr>
        <p:sp>
          <p:nvSpPr>
            <p:cNvPr id="16" name="object 16" descr=""/>
            <p:cNvSpPr/>
            <p:nvPr/>
          </p:nvSpPr>
          <p:spPr>
            <a:xfrm>
              <a:off x="711200" y="31877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11200" y="31877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704850" y="3714750"/>
            <a:ext cx="63500" cy="63500"/>
            <a:chOff x="704850" y="3714750"/>
            <a:chExt cx="63500" cy="63500"/>
          </a:xfrm>
        </p:grpSpPr>
        <p:sp>
          <p:nvSpPr>
            <p:cNvPr id="19" name="object 19" descr=""/>
            <p:cNvSpPr/>
            <p:nvPr/>
          </p:nvSpPr>
          <p:spPr>
            <a:xfrm>
              <a:off x="711200" y="37211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11200" y="37211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704850" y="4248150"/>
            <a:ext cx="63500" cy="63500"/>
            <a:chOff x="704850" y="4248150"/>
            <a:chExt cx="63500" cy="63500"/>
          </a:xfrm>
        </p:grpSpPr>
        <p:sp>
          <p:nvSpPr>
            <p:cNvPr id="22" name="object 22" descr=""/>
            <p:cNvSpPr/>
            <p:nvPr/>
          </p:nvSpPr>
          <p:spPr>
            <a:xfrm>
              <a:off x="711200" y="42545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11200" y="42545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704850" y="4781550"/>
            <a:ext cx="63500" cy="63500"/>
            <a:chOff x="704850" y="4781550"/>
            <a:chExt cx="63500" cy="63500"/>
          </a:xfrm>
        </p:grpSpPr>
        <p:sp>
          <p:nvSpPr>
            <p:cNvPr id="25" name="object 25" descr=""/>
            <p:cNvSpPr/>
            <p:nvPr/>
          </p:nvSpPr>
          <p:spPr>
            <a:xfrm>
              <a:off x="711200" y="47879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11200" y="47879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704850" y="5314950"/>
            <a:ext cx="63500" cy="63500"/>
            <a:chOff x="704850" y="5314950"/>
            <a:chExt cx="63500" cy="63500"/>
          </a:xfrm>
        </p:grpSpPr>
        <p:sp>
          <p:nvSpPr>
            <p:cNvPr id="28" name="object 28" descr=""/>
            <p:cNvSpPr/>
            <p:nvPr/>
          </p:nvSpPr>
          <p:spPr>
            <a:xfrm>
              <a:off x="711200" y="5321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11200" y="5321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704850" y="5848350"/>
            <a:ext cx="63500" cy="63500"/>
            <a:chOff x="704850" y="5848350"/>
            <a:chExt cx="63500" cy="63500"/>
          </a:xfrm>
        </p:grpSpPr>
        <p:sp>
          <p:nvSpPr>
            <p:cNvPr id="31" name="object 31" descr=""/>
            <p:cNvSpPr/>
            <p:nvPr/>
          </p:nvSpPr>
          <p:spPr>
            <a:xfrm>
              <a:off x="711200" y="58547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50800"/>
                  </a:move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11200" y="58547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48804" y="35283"/>
                  </a:lnTo>
                  <a:lnTo>
                    <a:pt x="43362" y="43357"/>
                  </a:lnTo>
                  <a:lnTo>
                    <a:pt x="35289" y="48802"/>
                  </a:lnTo>
                  <a:lnTo>
                    <a:pt x="25400" y="50800"/>
                  </a:lnTo>
                  <a:lnTo>
                    <a:pt x="15510" y="48802"/>
                  </a:lnTo>
                  <a:lnTo>
                    <a:pt x="7437" y="43357"/>
                  </a:lnTo>
                  <a:lnTo>
                    <a:pt x="1995" y="35283"/>
                  </a:lnTo>
                  <a:lnTo>
                    <a:pt x="0" y="25400"/>
                  </a:lnTo>
                  <a:lnTo>
                    <a:pt x="1995" y="15516"/>
                  </a:lnTo>
                  <a:lnTo>
                    <a:pt x="7437" y="7442"/>
                  </a:lnTo>
                  <a:lnTo>
                    <a:pt x="15510" y="1997"/>
                  </a:lnTo>
                  <a:lnTo>
                    <a:pt x="25400" y="0"/>
                  </a:lnTo>
                  <a:lnTo>
                    <a:pt x="35289" y="1997"/>
                  </a:lnTo>
                  <a:lnTo>
                    <a:pt x="43362" y="7442"/>
                  </a:lnTo>
                  <a:lnTo>
                    <a:pt x="48804" y="15516"/>
                  </a:lnTo>
                  <a:lnTo>
                    <a:pt x="50800" y="2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586" y="213249"/>
            <a:ext cx="1418676" cy="429030"/>
          </a:xfrm>
          <a:prstGeom prst="rect">
            <a:avLst/>
          </a:prstGeom>
        </p:spPr>
      </p:pic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10</a:t>
            </a:fld>
            <a:r>
              <a:rPr dirty="0" spc="-25"/>
              <a:t> </a:t>
            </a:r>
            <a:r>
              <a:rPr dirty="0" spc="-215"/>
              <a:t>/</a:t>
            </a:r>
            <a:r>
              <a:rPr dirty="0" spc="35"/>
              <a:t> </a:t>
            </a:r>
            <a:r>
              <a:rPr dirty="0" spc="-25"/>
              <a:t>10</a:t>
            </a:r>
          </a:p>
        </p:txBody>
      </p:sp>
      <p:sp>
        <p:nvSpPr>
          <p:cNvPr id="35" name="object 35" descr=""/>
          <p:cNvSpPr txBox="1"/>
          <p:nvPr/>
        </p:nvSpPr>
        <p:spPr>
          <a:xfrm>
            <a:off x="2068309" y="10070131"/>
            <a:ext cx="2965450" cy="1733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20" b="1">
                <a:latin typeface="Cambria"/>
                <a:cs typeface="Cambria"/>
              </a:rPr>
              <a:t>Material</a:t>
            </a:r>
            <a:r>
              <a:rPr dirty="0" sz="1000" spc="220" b="1">
                <a:latin typeface="Cambria"/>
                <a:cs typeface="Cambria"/>
              </a:rPr>
              <a:t> </a:t>
            </a:r>
            <a:r>
              <a:rPr dirty="0" sz="1000" spc="20" b="1">
                <a:latin typeface="Cambria"/>
                <a:cs typeface="Cambria"/>
              </a:rPr>
              <a:t>downloaded</a:t>
            </a:r>
            <a:r>
              <a:rPr dirty="0" sz="1000" spc="240" b="1">
                <a:latin typeface="Cambria"/>
                <a:cs typeface="Cambria"/>
              </a:rPr>
              <a:t> </a:t>
            </a:r>
            <a:r>
              <a:rPr dirty="0" sz="1000" spc="60" b="1">
                <a:latin typeface="Cambria"/>
                <a:cs typeface="Cambria"/>
              </a:rPr>
              <a:t>from</a:t>
            </a:r>
            <a:r>
              <a:rPr dirty="0" sz="1000" spc="204" b="1">
                <a:latin typeface="Cambria"/>
                <a:cs typeface="Cambria"/>
              </a:rPr>
              <a:t> </a:t>
            </a:r>
            <a:r>
              <a:rPr dirty="0" u="sng" sz="1000" spc="-10" b="1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Arial"/>
                <a:cs typeface="Arial"/>
                <a:hlinkClick r:id="rId3"/>
              </a:rPr>
              <a:t>www.vidyakul.com</a:t>
            </a:r>
            <a:r>
              <a:rPr dirty="0" sz="1000" spc="-10" b="1">
                <a:latin typeface="Cambria"/>
                <a:cs typeface="Cambria"/>
                <a:hlinkClick r:id="rId3"/>
              </a:rPr>
              <a:t>.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2025-11-05T21:23:09Z</dcterms:created>
  <dcterms:modified xsi:type="dcterms:W3CDTF">2025-11-05T21:23:09Z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2025-11-06T00:00:00Z</vt:filetime>
  </property>
</Properties>
</file>